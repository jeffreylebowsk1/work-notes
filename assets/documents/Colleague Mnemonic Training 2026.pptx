
<file path=[Content_Types].xml><?xml version="1.0" encoding="utf-8"?>
<Types xmlns="http://schemas.openxmlformats.org/package/2006/content-types">
  <Default ContentType="image/jpeg" Extension="jpg"/>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 name="Google Shape;9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 name="Google Shape;10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You’ll go in through the portal—look for the purple icon. This will open in your browser. If you need to use Colleague from home, you will need to apply for VPN access in Etrieve and access Colleague using an application called Appstream, also on the portal.</a:t>
            </a:r>
            <a:endParaRPr/>
          </a:p>
        </p:txBody>
      </p:sp>
      <p:sp>
        <p:nvSpPr>
          <p:cNvPr id="101" name="Google Shape;10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 name="Google Shape;10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search bar at the top of colleague is your best friend. You can use it to look for people and forms.</a:t>
            </a:r>
            <a:endParaRPr/>
          </a:p>
        </p:txBody>
      </p:sp>
      <p:sp>
        <p:nvSpPr>
          <p:cNvPr id="109" name="Google Shape;109;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 name="Google Shape;11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 name="Google Shape;127;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There are mnemonic “cheat sheets” on the Employee Hub</a:t>
            </a:r>
            <a:endParaRPr/>
          </a:p>
        </p:txBody>
      </p:sp>
      <p:sp>
        <p:nvSpPr>
          <p:cNvPr id="128" name="Google Shape;128;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 name="Google Shape;13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 name="Google Shape;14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 name="Google Shape;15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 name="Google Shape;16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 name="Google Shape;16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2" name="Google Shape;18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 name="Google Shape;19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3" name="Google Shape;213;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9" name="Google Shape;219;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5" name="Google Shape;225;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1" name="Google Shape;231;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8" name="Google Shape;238;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7" name="Google Shape;247;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 name="Google Shape;254;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1" name="Google Shape;261;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8" name="Google Shape;268;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4" name="Google Shape;274;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1" name="Google Shape;281;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7" name="Google Shape;287;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4" name="Google Shape;294;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 name="Shape 27"/>
        <p:cNvGrpSpPr/>
        <p:nvPr/>
      </p:nvGrpSpPr>
      <p:grpSpPr>
        <a:xfrm>
          <a:off x="0" y="0"/>
          <a:ext cx="0" cy="0"/>
          <a:chOff x="0" y="0"/>
          <a:chExt cx="0" cy="0"/>
        </a:xfrm>
      </p:grpSpPr>
      <p:sp>
        <p:nvSpPr>
          <p:cNvPr id="28" name="Google Shape;28;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1" name="Shape 31"/>
        <p:cNvGrpSpPr/>
        <p:nvPr/>
      </p:nvGrpSpPr>
      <p:grpSpPr>
        <a:xfrm>
          <a:off x="0" y="0"/>
          <a:ext cx="0" cy="0"/>
          <a:chOff x="0" y="0"/>
          <a:chExt cx="0" cy="0"/>
        </a:xfrm>
      </p:grpSpPr>
      <p:sp>
        <p:nvSpPr>
          <p:cNvPr id="32" name="Google Shape;32;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 name="Google Shape;34;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 name="Google Shape;35;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38" name="Shape 38"/>
        <p:cNvGrpSpPr/>
        <p:nvPr/>
      </p:nvGrpSpPr>
      <p:grpSpPr>
        <a:xfrm>
          <a:off x="0" y="0"/>
          <a:ext cx="0" cy="0"/>
          <a:chOff x="0" y="0"/>
          <a:chExt cx="0" cy="0"/>
        </a:xfrm>
      </p:grpSpPr>
      <p:sp>
        <p:nvSpPr>
          <p:cNvPr id="39" name="Google Shape;39;p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6"/>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41" name="Google Shape;41;p6"/>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42" name="Google Shape;42;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5" name="Shape 45"/>
        <p:cNvGrpSpPr/>
        <p:nvPr/>
      </p:nvGrpSpPr>
      <p:grpSpPr>
        <a:xfrm>
          <a:off x="0" y="0"/>
          <a:ext cx="0" cy="0"/>
          <a:chOff x="0" y="0"/>
          <a:chExt cx="0" cy="0"/>
        </a:xfrm>
      </p:grpSpPr>
      <p:sp>
        <p:nvSpPr>
          <p:cNvPr id="46" name="Google Shape;46;p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48" name="Google Shape;48;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1" name="Shape 51"/>
        <p:cNvGrpSpPr/>
        <p:nvPr/>
      </p:nvGrpSpPr>
      <p:grpSpPr>
        <a:xfrm>
          <a:off x="0" y="0"/>
          <a:ext cx="0" cy="0"/>
          <a:chOff x="0" y="0"/>
          <a:chExt cx="0" cy="0"/>
        </a:xfrm>
      </p:grpSpPr>
      <p:sp>
        <p:nvSpPr>
          <p:cNvPr id="52" name="Google Shape;52;p8"/>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8"/>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4" name="Google Shape;54;p8"/>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 name="Google Shape;55;p8"/>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6" name="Google Shape;56;p8"/>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7" name="Google Shape;57;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0" name="Shape 60"/>
        <p:cNvGrpSpPr/>
        <p:nvPr/>
      </p:nvGrpSpPr>
      <p:grpSpPr>
        <a:xfrm>
          <a:off x="0" y="0"/>
          <a:ext cx="0" cy="0"/>
          <a:chOff x="0" y="0"/>
          <a:chExt cx="0" cy="0"/>
        </a:xfrm>
      </p:grpSpPr>
      <p:sp>
        <p:nvSpPr>
          <p:cNvPr id="61" name="Google Shape;61;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5183188" y="987425"/>
            <a:ext cx="6172200" cy="4873625"/>
          </a:xfrm>
          <a:prstGeom prst="rect">
            <a:avLst/>
          </a:prstGeom>
          <a:noFill/>
          <a:ln>
            <a:noFill/>
          </a:ln>
        </p:spPr>
      </p:sp>
      <p:sp>
        <p:nvSpPr>
          <p:cNvPr id="68" name="Google Shape;68;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0.jpg"/><Relationship Id="rId4" Type="http://schemas.openxmlformats.org/officeDocument/2006/relationships/hyperlink" Target="https://scherlund.blogspot.com/2016/06/what-does-student-engagement-look-like.html" TargetMode="External"/><Relationship Id="rId5" Type="http://schemas.openxmlformats.org/officeDocument/2006/relationships/hyperlink" Target="https://creativecommons.org/licenses/by/3.0/"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2.pn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8.png"/><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2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2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2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 Id="rId3" Type="http://schemas.openxmlformats.org/officeDocument/2006/relationships/image" Target="../media/image2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lang="en-US"/>
              <a:t>Alphabet Soup: Colleague Mnemonics for Faculty</a:t>
            </a:r>
            <a:endParaRPr/>
          </a:p>
        </p:txBody>
      </p:sp>
      <p:sp>
        <p:nvSpPr>
          <p:cNvPr id="90" name="Google Shape;90;p1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US"/>
              <a:t> </a:t>
            </a:r>
            <a:endParaRPr/>
          </a:p>
        </p:txBody>
      </p:sp>
      <p:pic>
        <p:nvPicPr>
          <p:cNvPr id="91" name="Google Shape;91;p13"/>
          <p:cNvPicPr preferRelativeResize="0"/>
          <p:nvPr/>
        </p:nvPicPr>
        <p:blipFill rotWithShape="1">
          <a:blip r:embed="rId3">
            <a:alphaModFix/>
          </a:blip>
          <a:srcRect b="0" l="0" r="0" t="0"/>
          <a:stretch/>
        </p:blipFill>
        <p:spPr>
          <a:xfrm>
            <a:off x="4496742" y="3602038"/>
            <a:ext cx="3198516" cy="255881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What is Colleague?</a:t>
            </a:r>
            <a:endParaRPr/>
          </a:p>
        </p:txBody>
      </p:sp>
      <p:sp>
        <p:nvSpPr>
          <p:cNvPr id="97" name="Google Shape;97;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Ellucian’s Colleague is a software system that manages student information, finances, and human resources. </a:t>
            </a:r>
            <a:endParaRPr/>
          </a:p>
          <a:p>
            <a:pPr indent="-228600" lvl="0" marL="228600" rtl="0" algn="l">
              <a:lnSpc>
                <a:spcPct val="90000"/>
              </a:lnSpc>
              <a:spcBef>
                <a:spcPts val="1000"/>
              </a:spcBef>
              <a:spcAft>
                <a:spcPts val="0"/>
              </a:spcAft>
              <a:buClr>
                <a:schemeClr val="dk1"/>
              </a:buClr>
              <a:buSzPts val="2800"/>
              <a:buChar char="•"/>
            </a:pPr>
            <a:r>
              <a:rPr lang="en-US"/>
              <a:t>Colleague is the information system that Self-Service, Slate, Coursedog, Simple Syllabus, Informer, and other systems pull information from—they interface with the system in more user-friendly ways.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Logging into Colleague</a:t>
            </a:r>
            <a:endParaRPr/>
          </a:p>
        </p:txBody>
      </p:sp>
      <p:sp>
        <p:nvSpPr>
          <p:cNvPr id="104" name="Google Shape;104;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Go to the CCCC portal and click on the purple Ellucian icon:</a:t>
            </a:r>
            <a:endParaRPr/>
          </a:p>
          <a:p>
            <a:pPr indent="0" lvl="0" marL="0" rtl="0" algn="l">
              <a:lnSpc>
                <a:spcPct val="90000"/>
              </a:lnSpc>
              <a:spcBef>
                <a:spcPts val="1000"/>
              </a:spcBef>
              <a:spcAft>
                <a:spcPts val="0"/>
              </a:spcAft>
              <a:buClr>
                <a:schemeClr val="dk1"/>
              </a:buClr>
              <a:buSzPts val="2800"/>
              <a:buNone/>
            </a:pPr>
            <a:r>
              <a:t/>
            </a:r>
            <a:endParaRPr/>
          </a:p>
        </p:txBody>
      </p:sp>
      <p:pic>
        <p:nvPicPr>
          <p:cNvPr id="105" name="Google Shape;105;p15"/>
          <p:cNvPicPr preferRelativeResize="0"/>
          <p:nvPr/>
        </p:nvPicPr>
        <p:blipFill rotWithShape="1">
          <a:blip r:embed="rId3">
            <a:alphaModFix/>
          </a:blip>
          <a:srcRect b="0" l="0" r="0" t="0"/>
          <a:stretch/>
        </p:blipFill>
        <p:spPr>
          <a:xfrm>
            <a:off x="5200650" y="2952750"/>
            <a:ext cx="1790700" cy="9525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Top Navigation</a:t>
            </a:r>
            <a:endParaRPr/>
          </a:p>
        </p:txBody>
      </p:sp>
      <p:pic>
        <p:nvPicPr>
          <p:cNvPr id="112" name="Google Shape;112;p16"/>
          <p:cNvPicPr preferRelativeResize="0"/>
          <p:nvPr/>
        </p:nvPicPr>
        <p:blipFill rotWithShape="1">
          <a:blip r:embed="rId3">
            <a:alphaModFix/>
          </a:blip>
          <a:srcRect b="0" l="0" r="0" t="0"/>
          <a:stretch/>
        </p:blipFill>
        <p:spPr>
          <a:xfrm>
            <a:off x="1029342" y="2345397"/>
            <a:ext cx="7277100" cy="400050"/>
          </a:xfrm>
          <a:prstGeom prst="rect">
            <a:avLst/>
          </a:prstGeom>
          <a:noFill/>
          <a:ln>
            <a:noFill/>
          </a:ln>
        </p:spPr>
      </p:pic>
      <p:cxnSp>
        <p:nvCxnSpPr>
          <p:cNvPr id="113" name="Google Shape;113;p16"/>
          <p:cNvCxnSpPr/>
          <p:nvPr/>
        </p:nvCxnSpPr>
        <p:spPr>
          <a:xfrm flipH="1" rot="10800000">
            <a:off x="2547991" y="2745447"/>
            <a:ext cx="606175" cy="1138184"/>
          </a:xfrm>
          <a:prstGeom prst="straightConnector1">
            <a:avLst/>
          </a:prstGeom>
          <a:noFill/>
          <a:ln cap="flat" cmpd="sng" w="9525">
            <a:solidFill>
              <a:schemeClr val="accent1"/>
            </a:solidFill>
            <a:prstDash val="solid"/>
            <a:miter lim="800000"/>
            <a:headEnd len="sm" w="sm" type="none"/>
            <a:tailEnd len="med" w="med" type="triangle"/>
          </a:ln>
        </p:spPr>
      </p:cxnSp>
      <p:cxnSp>
        <p:nvCxnSpPr>
          <p:cNvPr id="114" name="Google Shape;114;p16"/>
          <p:cNvCxnSpPr/>
          <p:nvPr/>
        </p:nvCxnSpPr>
        <p:spPr>
          <a:xfrm rot="10800000">
            <a:off x="3768903" y="2745448"/>
            <a:ext cx="494872" cy="1251199"/>
          </a:xfrm>
          <a:prstGeom prst="straightConnector1">
            <a:avLst/>
          </a:prstGeom>
          <a:noFill/>
          <a:ln cap="flat" cmpd="sng" w="9525">
            <a:solidFill>
              <a:schemeClr val="accent1"/>
            </a:solidFill>
            <a:prstDash val="solid"/>
            <a:miter lim="800000"/>
            <a:headEnd len="sm" w="sm" type="none"/>
            <a:tailEnd len="med" w="med" type="triangle"/>
          </a:ln>
        </p:spPr>
      </p:cxnSp>
      <p:sp>
        <p:nvSpPr>
          <p:cNvPr id="115" name="Google Shape;115;p16"/>
          <p:cNvSpPr txBox="1"/>
          <p:nvPr/>
        </p:nvSpPr>
        <p:spPr>
          <a:xfrm>
            <a:off x="1787703" y="3883631"/>
            <a:ext cx="1171254"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Calibri"/>
                <a:ea typeface="Calibri"/>
                <a:cs typeface="Calibri"/>
                <a:sym typeface="Calibri"/>
              </a:rPr>
              <a:t>Search for a person</a:t>
            </a:r>
            <a:endParaRPr/>
          </a:p>
        </p:txBody>
      </p:sp>
      <p:sp>
        <p:nvSpPr>
          <p:cNvPr id="116" name="Google Shape;116;p16"/>
          <p:cNvSpPr txBox="1"/>
          <p:nvPr/>
        </p:nvSpPr>
        <p:spPr>
          <a:xfrm>
            <a:off x="3768903" y="3883631"/>
            <a:ext cx="1171254"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Search for a form</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Search for a Person</a:t>
            </a:r>
            <a:endParaRPr/>
          </a:p>
        </p:txBody>
      </p:sp>
      <p:sp>
        <p:nvSpPr>
          <p:cNvPr id="122" name="Google Shape;122;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Type last name, first name or first name last name</a:t>
            </a:r>
            <a:endParaRPr/>
          </a:p>
          <a:p>
            <a:pPr indent="-228600" lvl="0" marL="228600" rtl="0" algn="l">
              <a:lnSpc>
                <a:spcPct val="90000"/>
              </a:lnSpc>
              <a:spcBef>
                <a:spcPts val="1000"/>
              </a:spcBef>
              <a:spcAft>
                <a:spcPts val="0"/>
              </a:spcAft>
              <a:buClr>
                <a:schemeClr val="dk1"/>
              </a:buClr>
              <a:buSzPts val="2800"/>
              <a:buChar char="•"/>
            </a:pPr>
            <a:r>
              <a:rPr lang="en-US"/>
              <a:t>Results show ID, address, phone, CCCC email and other information</a:t>
            </a:r>
            <a:endParaRPr/>
          </a:p>
          <a:p>
            <a:pPr indent="0" lvl="0" marL="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123" name="Google Shape;123;p17"/>
          <p:cNvPicPr preferRelativeResize="0"/>
          <p:nvPr/>
        </p:nvPicPr>
        <p:blipFill rotWithShape="1">
          <a:blip r:embed="rId3">
            <a:alphaModFix/>
          </a:blip>
          <a:srcRect b="0" l="0" r="0" t="0"/>
          <a:stretch/>
        </p:blipFill>
        <p:spPr>
          <a:xfrm>
            <a:off x="1015047" y="3429000"/>
            <a:ext cx="10161905" cy="1561905"/>
          </a:xfrm>
          <a:prstGeom prst="rect">
            <a:avLst/>
          </a:prstGeom>
          <a:noFill/>
          <a:ln>
            <a:noFill/>
          </a:ln>
        </p:spPr>
      </p:pic>
      <p:sp>
        <p:nvSpPr>
          <p:cNvPr id="124" name="Google Shape;124;p17"/>
          <p:cNvSpPr/>
          <p:nvPr/>
        </p:nvSpPr>
        <p:spPr>
          <a:xfrm>
            <a:off x="3758268" y="3884103"/>
            <a:ext cx="578840" cy="117446"/>
          </a:xfrm>
          <a:prstGeom prst="rect">
            <a:avLst/>
          </a:prstGeom>
          <a:solidFill>
            <a:schemeClr val="accent3"/>
          </a:solidFill>
          <a:ln cap="flat" cmpd="sng" w="12700">
            <a:solidFill>
              <a:srgbClr val="78787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Forms/Screens</a:t>
            </a:r>
            <a:endParaRPr/>
          </a:p>
        </p:txBody>
      </p:sp>
      <p:sp>
        <p:nvSpPr>
          <p:cNvPr id="131" name="Google Shape;131;p1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These screens contain information about courses, classes, students, budgets, expenditures, and other information.</a:t>
            </a:r>
            <a:endParaRPr/>
          </a:p>
          <a:p>
            <a:pPr indent="-228600" lvl="0" marL="228600" rtl="0" algn="l">
              <a:lnSpc>
                <a:spcPct val="90000"/>
              </a:lnSpc>
              <a:spcBef>
                <a:spcPts val="1000"/>
              </a:spcBef>
              <a:spcAft>
                <a:spcPts val="0"/>
              </a:spcAft>
              <a:buClr>
                <a:schemeClr val="dk1"/>
              </a:buClr>
              <a:buSzPts val="2800"/>
              <a:buChar char="•"/>
            </a:pPr>
            <a:r>
              <a:rPr lang="en-US"/>
              <a:t>Access the screens using mnemonics. Some of these are easy to remember (TSUM = “test-’em!” EVAL = “evaluate”); others, not so much.</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Student Information</a:t>
            </a:r>
            <a:endParaRPr/>
          </a:p>
        </p:txBody>
      </p:sp>
      <p:pic>
        <p:nvPicPr>
          <p:cNvPr id="137" name="Google Shape;137;p19"/>
          <p:cNvPicPr preferRelativeResize="0"/>
          <p:nvPr>
            <p:ph idx="1" type="body"/>
          </p:nvPr>
        </p:nvPicPr>
        <p:blipFill rotWithShape="1">
          <a:blip r:embed="rId3">
            <a:alphaModFix/>
          </a:blip>
          <a:srcRect b="0" l="0" r="0" t="0"/>
          <a:stretch/>
        </p:blipFill>
        <p:spPr>
          <a:xfrm>
            <a:off x="3048000" y="2382044"/>
            <a:ext cx="6096000" cy="3238500"/>
          </a:xfrm>
          <a:prstGeom prst="rect">
            <a:avLst/>
          </a:prstGeom>
          <a:noFill/>
          <a:ln>
            <a:noFill/>
          </a:ln>
        </p:spPr>
      </p:pic>
      <p:sp>
        <p:nvSpPr>
          <p:cNvPr id="138" name="Google Shape;138;p19"/>
          <p:cNvSpPr txBox="1"/>
          <p:nvPr/>
        </p:nvSpPr>
        <p:spPr>
          <a:xfrm>
            <a:off x="3048000" y="5620544"/>
            <a:ext cx="6096000" cy="2308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900" u="sng">
                <a:solidFill>
                  <a:schemeClr val="dk1"/>
                </a:solidFill>
                <a:latin typeface="Calibri"/>
                <a:ea typeface="Calibri"/>
                <a:cs typeface="Calibri"/>
                <a:sym typeface="Calibri"/>
                <a:hlinkClick r:id="rId4">
                  <a:extLst>
                    <a:ext uri="{A12FA001-AC4F-418D-AE19-62706E023703}">
                      <ahyp:hlinkClr val="tx"/>
                    </a:ext>
                  </a:extLst>
                </a:hlinkClick>
              </a:rPr>
              <a:t>This Photo</a:t>
            </a:r>
            <a:r>
              <a:rPr lang="en-US" sz="900">
                <a:solidFill>
                  <a:schemeClr val="dk1"/>
                </a:solidFill>
                <a:latin typeface="Calibri"/>
                <a:ea typeface="Calibri"/>
                <a:cs typeface="Calibri"/>
                <a:sym typeface="Calibri"/>
              </a:rPr>
              <a:t> by Unknown Author is licensed under </a:t>
            </a:r>
            <a:r>
              <a:rPr lang="en-US" sz="900" u="sng">
                <a:solidFill>
                  <a:schemeClr val="dk1"/>
                </a:solidFill>
                <a:latin typeface="Calibri"/>
                <a:ea typeface="Calibri"/>
                <a:cs typeface="Calibri"/>
                <a:sym typeface="Calibri"/>
                <a:hlinkClick r:id="rId5">
                  <a:extLst>
                    <a:ext uri="{A12FA001-AC4F-418D-AE19-62706E023703}">
                      <ahyp:hlinkClr val="tx"/>
                    </a:ext>
                  </a:extLst>
                </a:hlinkClick>
              </a:rPr>
              <a:t>CC BY</a:t>
            </a:r>
            <a:endParaRPr sz="9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Common Forms for Student Information</a:t>
            </a:r>
            <a:endParaRPr/>
          </a:p>
        </p:txBody>
      </p:sp>
      <p:sp>
        <p:nvSpPr>
          <p:cNvPr id="144" name="Google Shape;144;p2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lang="en-US"/>
              <a:t>ASUM = applicant summary</a:t>
            </a:r>
            <a:endParaRPr/>
          </a:p>
          <a:p>
            <a:pPr indent="-228600" lvl="0" marL="228600" rtl="0" algn="l">
              <a:lnSpc>
                <a:spcPct val="90000"/>
              </a:lnSpc>
              <a:spcBef>
                <a:spcPts val="1000"/>
              </a:spcBef>
              <a:spcAft>
                <a:spcPts val="0"/>
              </a:spcAft>
              <a:buClr>
                <a:schemeClr val="dk1"/>
              </a:buClr>
              <a:buSzPts val="2800"/>
              <a:buChar char="•"/>
            </a:pPr>
            <a:r>
              <a:rPr lang="en-US"/>
              <a:t>STAT = student academic transcript</a:t>
            </a:r>
            <a:endParaRPr/>
          </a:p>
          <a:p>
            <a:pPr indent="-228600" lvl="0" marL="228600" rtl="0" algn="l">
              <a:lnSpc>
                <a:spcPct val="90000"/>
              </a:lnSpc>
              <a:spcBef>
                <a:spcPts val="1000"/>
              </a:spcBef>
              <a:spcAft>
                <a:spcPts val="0"/>
              </a:spcAft>
              <a:buClr>
                <a:schemeClr val="dk1"/>
              </a:buClr>
              <a:buSzPts val="2800"/>
              <a:buChar char="•"/>
            </a:pPr>
            <a:r>
              <a:rPr lang="en-US"/>
              <a:t>STAC = student grades</a:t>
            </a:r>
            <a:endParaRPr/>
          </a:p>
          <a:p>
            <a:pPr indent="-228600" lvl="0" marL="228600" rtl="0" algn="l">
              <a:lnSpc>
                <a:spcPct val="90000"/>
              </a:lnSpc>
              <a:spcBef>
                <a:spcPts val="1000"/>
              </a:spcBef>
              <a:spcAft>
                <a:spcPts val="0"/>
              </a:spcAft>
              <a:buClr>
                <a:schemeClr val="dk1"/>
              </a:buClr>
              <a:buSzPts val="2800"/>
              <a:buChar char="•"/>
            </a:pPr>
            <a:r>
              <a:rPr lang="en-US"/>
              <a:t>PERC = holds</a:t>
            </a:r>
            <a:endParaRPr/>
          </a:p>
          <a:p>
            <a:pPr indent="-228600" lvl="0" marL="228600" rtl="0" algn="l">
              <a:lnSpc>
                <a:spcPct val="90000"/>
              </a:lnSpc>
              <a:spcBef>
                <a:spcPts val="1000"/>
              </a:spcBef>
              <a:spcAft>
                <a:spcPts val="0"/>
              </a:spcAft>
              <a:buClr>
                <a:schemeClr val="dk1"/>
              </a:buClr>
              <a:buSzPts val="2800"/>
              <a:buChar char="•"/>
            </a:pPr>
            <a:r>
              <a:rPr lang="en-US"/>
              <a:t>EVAL = program evaluation</a:t>
            </a:r>
            <a:endParaRPr/>
          </a:p>
          <a:p>
            <a:pPr indent="-228600" lvl="0" marL="228600" rtl="0" algn="l">
              <a:lnSpc>
                <a:spcPct val="90000"/>
              </a:lnSpc>
              <a:spcBef>
                <a:spcPts val="1000"/>
              </a:spcBef>
              <a:spcAft>
                <a:spcPts val="0"/>
              </a:spcAft>
              <a:buClr>
                <a:schemeClr val="dk1"/>
              </a:buClr>
              <a:buSzPts val="2800"/>
              <a:buChar char="•"/>
            </a:pPr>
            <a:r>
              <a:rPr lang="en-US"/>
              <a:t>SACP = student academic program</a:t>
            </a:r>
            <a:endParaRPr/>
          </a:p>
          <a:p>
            <a:pPr indent="-228600" lvl="0" marL="228600" rtl="0" algn="l">
              <a:lnSpc>
                <a:spcPct val="90000"/>
              </a:lnSpc>
              <a:spcBef>
                <a:spcPts val="1000"/>
              </a:spcBef>
              <a:spcAft>
                <a:spcPts val="0"/>
              </a:spcAft>
              <a:buClr>
                <a:schemeClr val="dk1"/>
              </a:buClr>
              <a:buSzPts val="2800"/>
              <a:buChar char="•"/>
            </a:pPr>
            <a:r>
              <a:rPr lang="en-US"/>
              <a:t>TSUM = test scores</a:t>
            </a:r>
            <a:endParaRPr/>
          </a:p>
          <a:p>
            <a:pPr indent="-228600" lvl="0" marL="228600" rtl="0" algn="l">
              <a:lnSpc>
                <a:spcPct val="90000"/>
              </a:lnSpc>
              <a:spcBef>
                <a:spcPts val="1000"/>
              </a:spcBef>
              <a:spcAft>
                <a:spcPts val="0"/>
              </a:spcAft>
              <a:buClr>
                <a:schemeClr val="dk1"/>
              </a:buClr>
              <a:buSzPts val="2800"/>
              <a:buChar char="•"/>
            </a:pPr>
            <a:r>
              <a:rPr lang="en-US"/>
              <a:t>RGN = registration</a:t>
            </a:r>
            <a:endParaRPr/>
          </a:p>
          <a:p>
            <a:pPr indent="-228600" lvl="0" marL="228600" rtl="0" algn="l">
              <a:lnSpc>
                <a:spcPct val="90000"/>
              </a:lnSpc>
              <a:spcBef>
                <a:spcPts val="1000"/>
              </a:spcBef>
              <a:spcAft>
                <a:spcPts val="0"/>
              </a:spcAft>
              <a:buClr>
                <a:schemeClr val="dk1"/>
              </a:buClr>
              <a:buSzPts val="2800"/>
              <a:buChar char="•"/>
            </a:pPr>
            <a:r>
              <a:rPr lang="en-US"/>
              <a:t>STSC = Student schedule</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ASUM</a:t>
            </a:r>
            <a:endParaRPr/>
          </a:p>
        </p:txBody>
      </p:sp>
      <p:pic>
        <p:nvPicPr>
          <p:cNvPr id="150" name="Google Shape;150;p21"/>
          <p:cNvPicPr preferRelativeResize="0"/>
          <p:nvPr>
            <p:ph idx="1" type="body"/>
          </p:nvPr>
        </p:nvPicPr>
        <p:blipFill rotWithShape="1">
          <a:blip r:embed="rId3">
            <a:alphaModFix/>
          </a:blip>
          <a:srcRect b="0" l="0" r="0" t="0"/>
          <a:stretch/>
        </p:blipFill>
        <p:spPr>
          <a:xfrm>
            <a:off x="2466109" y="674021"/>
            <a:ext cx="7777276" cy="5818854"/>
          </a:xfrm>
          <a:prstGeom prst="rect">
            <a:avLst/>
          </a:prstGeom>
          <a:noFill/>
          <a:ln>
            <a:noFill/>
          </a:ln>
        </p:spPr>
      </p:pic>
      <p:sp>
        <p:nvSpPr>
          <p:cNvPr id="151" name="Google Shape;151;p21"/>
          <p:cNvSpPr/>
          <p:nvPr/>
        </p:nvSpPr>
        <p:spPr>
          <a:xfrm>
            <a:off x="8377382" y="5375564"/>
            <a:ext cx="1348509" cy="659983"/>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2" name="Google Shape;152;p21"/>
          <p:cNvSpPr/>
          <p:nvPr/>
        </p:nvSpPr>
        <p:spPr>
          <a:xfrm>
            <a:off x="8946810" y="4151049"/>
            <a:ext cx="2029216" cy="1102291"/>
          </a:xfrm>
          <a:prstGeom prst="wedgeEllipseCallout">
            <a:avLst>
              <a:gd fmla="val -20833" name="adj1"/>
              <a:gd fmla="val 62500" name="adj2"/>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3" name="Google Shape;153;p21"/>
          <p:cNvSpPr txBox="1"/>
          <p:nvPr/>
        </p:nvSpPr>
        <p:spPr>
          <a:xfrm>
            <a:off x="9509057" y="4379028"/>
            <a:ext cx="1080655"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FERPA Consent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STAT</a:t>
            </a:r>
            <a:endParaRPr/>
          </a:p>
        </p:txBody>
      </p:sp>
      <p:pic>
        <p:nvPicPr>
          <p:cNvPr id="159" name="Google Shape;159;p22"/>
          <p:cNvPicPr preferRelativeResize="0"/>
          <p:nvPr>
            <p:ph idx="1" type="body"/>
          </p:nvPr>
        </p:nvPicPr>
        <p:blipFill rotWithShape="1">
          <a:blip r:embed="rId3">
            <a:alphaModFix/>
          </a:blip>
          <a:srcRect b="0" l="0" r="0" t="0"/>
          <a:stretch/>
        </p:blipFill>
        <p:spPr>
          <a:xfrm>
            <a:off x="2747482" y="1825625"/>
            <a:ext cx="6697035" cy="435133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pic>
        <p:nvPicPr>
          <p:cNvPr id="164" name="Google Shape;164;p23"/>
          <p:cNvPicPr preferRelativeResize="0"/>
          <p:nvPr/>
        </p:nvPicPr>
        <p:blipFill rotWithShape="1">
          <a:blip r:embed="rId3">
            <a:alphaModFix/>
          </a:blip>
          <a:srcRect b="0" l="0" r="0" t="0"/>
          <a:stretch/>
        </p:blipFill>
        <p:spPr>
          <a:xfrm>
            <a:off x="1490662" y="1871662"/>
            <a:ext cx="9210675" cy="3114675"/>
          </a:xfrm>
          <a:prstGeom prst="rect">
            <a:avLst/>
          </a:prstGeom>
          <a:noFill/>
          <a:ln>
            <a:noFill/>
          </a:ln>
        </p:spPr>
      </p:pic>
      <p:sp>
        <p:nvSpPr>
          <p:cNvPr id="165" name="Google Shape;165;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PERC = holds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pic>
        <p:nvPicPr>
          <p:cNvPr id="170" name="Google Shape;170;p24"/>
          <p:cNvPicPr preferRelativeResize="0"/>
          <p:nvPr/>
        </p:nvPicPr>
        <p:blipFill rotWithShape="1">
          <a:blip r:embed="rId3">
            <a:alphaModFix/>
          </a:blip>
          <a:srcRect b="0" l="0" r="0" t="0"/>
          <a:stretch/>
        </p:blipFill>
        <p:spPr>
          <a:xfrm>
            <a:off x="338137" y="242887"/>
            <a:ext cx="11515725" cy="6372225"/>
          </a:xfrm>
          <a:prstGeom prst="rect">
            <a:avLst/>
          </a:prstGeom>
          <a:noFill/>
          <a:ln>
            <a:noFill/>
          </a:ln>
        </p:spPr>
      </p:pic>
      <p:sp>
        <p:nvSpPr>
          <p:cNvPr id="171" name="Google Shape;171;p24"/>
          <p:cNvSpPr/>
          <p:nvPr/>
        </p:nvSpPr>
        <p:spPr>
          <a:xfrm>
            <a:off x="7903923" y="964503"/>
            <a:ext cx="2430049" cy="1503124"/>
          </a:xfrm>
          <a:prstGeom prst="wedgeEllipseCallout">
            <a:avLst>
              <a:gd fmla="val -20833" name="adj1"/>
              <a:gd fmla="val 62500" name="adj2"/>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2" name="Google Shape;172;p24"/>
          <p:cNvSpPr txBox="1"/>
          <p:nvPr/>
        </p:nvSpPr>
        <p:spPr>
          <a:xfrm>
            <a:off x="8329808" y="1277655"/>
            <a:ext cx="1565754"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SACP = Program code + Catalog year</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5"/>
          <p:cNvSpPr/>
          <p:nvPr/>
        </p:nvSpPr>
        <p:spPr>
          <a:xfrm>
            <a:off x="9908089" y="764087"/>
            <a:ext cx="2029216" cy="1102291"/>
          </a:xfrm>
          <a:prstGeom prst="wedgeEllipseCallout">
            <a:avLst>
              <a:gd fmla="val -20833" name="adj1"/>
              <a:gd fmla="val 62500" name="adj2"/>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8" name="Google Shape;178;p25"/>
          <p:cNvSpPr txBox="1"/>
          <p:nvPr/>
        </p:nvSpPr>
        <p:spPr>
          <a:xfrm>
            <a:off x="10152346" y="853567"/>
            <a:ext cx="1540702"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STAC = academic history/grades</a:t>
            </a:r>
            <a:endParaRPr/>
          </a:p>
        </p:txBody>
      </p:sp>
      <p:pic>
        <p:nvPicPr>
          <p:cNvPr id="179" name="Google Shape;179;p25"/>
          <p:cNvPicPr preferRelativeResize="0"/>
          <p:nvPr/>
        </p:nvPicPr>
        <p:blipFill rotWithShape="1">
          <a:blip r:embed="rId3">
            <a:alphaModFix/>
          </a:blip>
          <a:srcRect b="0" l="0" r="0" t="0"/>
          <a:stretch/>
        </p:blipFill>
        <p:spPr>
          <a:xfrm>
            <a:off x="741791" y="853567"/>
            <a:ext cx="9077325" cy="57816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pic>
        <p:nvPicPr>
          <p:cNvPr id="184" name="Google Shape;184;p26"/>
          <p:cNvPicPr preferRelativeResize="0"/>
          <p:nvPr/>
        </p:nvPicPr>
        <p:blipFill rotWithShape="1">
          <a:blip r:embed="rId3">
            <a:alphaModFix/>
          </a:blip>
          <a:srcRect b="0" l="0" r="0" t="0"/>
          <a:stretch/>
        </p:blipFill>
        <p:spPr>
          <a:xfrm>
            <a:off x="378782" y="237929"/>
            <a:ext cx="10382250" cy="4352925"/>
          </a:xfrm>
          <a:prstGeom prst="rect">
            <a:avLst/>
          </a:prstGeom>
          <a:noFill/>
          <a:ln>
            <a:noFill/>
          </a:ln>
        </p:spPr>
      </p:pic>
      <p:pic>
        <p:nvPicPr>
          <p:cNvPr id="185" name="Google Shape;185;p26"/>
          <p:cNvPicPr preferRelativeResize="0"/>
          <p:nvPr/>
        </p:nvPicPr>
        <p:blipFill rotWithShape="1">
          <a:blip r:embed="rId4">
            <a:alphaModFix/>
          </a:blip>
          <a:srcRect b="0" l="0" r="0" t="0"/>
          <a:stretch/>
        </p:blipFill>
        <p:spPr>
          <a:xfrm>
            <a:off x="6701425" y="3715208"/>
            <a:ext cx="5410200" cy="3105150"/>
          </a:xfrm>
          <a:prstGeom prst="rect">
            <a:avLst/>
          </a:prstGeom>
          <a:noFill/>
          <a:ln>
            <a:noFill/>
          </a:ln>
        </p:spPr>
      </p:pic>
      <p:sp>
        <p:nvSpPr>
          <p:cNvPr id="186" name="Google Shape;186;p26"/>
          <p:cNvSpPr/>
          <p:nvPr/>
        </p:nvSpPr>
        <p:spPr>
          <a:xfrm>
            <a:off x="3970752" y="125260"/>
            <a:ext cx="2029216" cy="1102291"/>
          </a:xfrm>
          <a:prstGeom prst="wedgeEllipseCallout">
            <a:avLst>
              <a:gd fmla="val -20833" name="adj1"/>
              <a:gd fmla="val 62500" name="adj2"/>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7" name="Google Shape;187;p26"/>
          <p:cNvSpPr txBox="1"/>
          <p:nvPr/>
        </p:nvSpPr>
        <p:spPr>
          <a:xfrm>
            <a:off x="4379935" y="237929"/>
            <a:ext cx="1210849"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EVAL = program evaluation</a:t>
            </a:r>
            <a:endParaRPr/>
          </a:p>
        </p:txBody>
      </p:sp>
      <p:sp>
        <p:nvSpPr>
          <p:cNvPr id="188" name="Google Shape;188;p26"/>
          <p:cNvSpPr/>
          <p:nvPr/>
        </p:nvSpPr>
        <p:spPr>
          <a:xfrm>
            <a:off x="6409151" y="1029808"/>
            <a:ext cx="2029216" cy="1102291"/>
          </a:xfrm>
          <a:prstGeom prst="wedgeEllipseCallout">
            <a:avLst>
              <a:gd fmla="val -20833" name="adj1"/>
              <a:gd fmla="val 62500" name="adj2"/>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9" name="Google Shape;189;p26"/>
          <p:cNvSpPr txBox="1"/>
          <p:nvPr/>
        </p:nvSpPr>
        <p:spPr>
          <a:xfrm>
            <a:off x="6701425" y="1227551"/>
            <a:ext cx="1490597"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Click on Format drop-down; click report type you’d like</a:t>
            </a:r>
            <a:endParaRPr/>
          </a:p>
        </p:txBody>
      </p:sp>
      <p:sp>
        <p:nvSpPr>
          <p:cNvPr id="190" name="Google Shape;190;p26"/>
          <p:cNvSpPr/>
          <p:nvPr/>
        </p:nvSpPr>
        <p:spPr>
          <a:xfrm>
            <a:off x="10090620" y="3076523"/>
            <a:ext cx="2029216" cy="1102291"/>
          </a:xfrm>
          <a:prstGeom prst="wedgeEllipseCallout">
            <a:avLst>
              <a:gd fmla="val -20833" name="adj1"/>
              <a:gd fmla="val 62500" name="adj2"/>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1" name="Google Shape;191;p26"/>
          <p:cNvSpPr txBox="1"/>
          <p:nvPr/>
        </p:nvSpPr>
        <p:spPr>
          <a:xfrm>
            <a:off x="10435085" y="3304502"/>
            <a:ext cx="1340285"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Click Download</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pic>
        <p:nvPicPr>
          <p:cNvPr id="196" name="Google Shape;196;p27"/>
          <p:cNvPicPr preferRelativeResize="0"/>
          <p:nvPr/>
        </p:nvPicPr>
        <p:blipFill rotWithShape="1">
          <a:blip r:embed="rId3">
            <a:alphaModFix/>
          </a:blip>
          <a:srcRect b="0" l="0" r="0" t="0"/>
          <a:stretch/>
        </p:blipFill>
        <p:spPr>
          <a:xfrm>
            <a:off x="1091854" y="257300"/>
            <a:ext cx="8020377" cy="6600180"/>
          </a:xfrm>
          <a:prstGeom prst="rect">
            <a:avLst/>
          </a:prstGeom>
          <a:noFill/>
          <a:ln>
            <a:noFill/>
          </a:ln>
        </p:spPr>
      </p:pic>
      <p:sp>
        <p:nvSpPr>
          <p:cNvPr id="197" name="Google Shape;197;p27"/>
          <p:cNvSpPr/>
          <p:nvPr/>
        </p:nvSpPr>
        <p:spPr>
          <a:xfrm>
            <a:off x="9407047" y="651352"/>
            <a:ext cx="2029216" cy="1102291"/>
          </a:xfrm>
          <a:prstGeom prst="wedgeEllipseCallout">
            <a:avLst>
              <a:gd fmla="val -20833" name="adj1"/>
              <a:gd fmla="val 62500" name="adj2"/>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lt1"/>
                </a:solidFill>
                <a:latin typeface="Calibri"/>
                <a:ea typeface="Calibri"/>
                <a:cs typeface="Calibri"/>
                <a:sym typeface="Calibri"/>
              </a:rPr>
              <a:t>HTML (user-friendly version) of program EVAL</a:t>
            </a:r>
            <a:endParaRPr/>
          </a:p>
        </p:txBody>
      </p:sp>
      <p:sp>
        <p:nvSpPr>
          <p:cNvPr id="198" name="Google Shape;198;p27"/>
          <p:cNvSpPr/>
          <p:nvPr/>
        </p:nvSpPr>
        <p:spPr>
          <a:xfrm>
            <a:off x="5849655" y="3006245"/>
            <a:ext cx="2029216" cy="1102291"/>
          </a:xfrm>
          <a:prstGeom prst="wedgeEllipseCallout">
            <a:avLst>
              <a:gd fmla="val -20833" name="adj1"/>
              <a:gd fmla="val 62500" name="adj2"/>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Lists courses completed/ in progress/ remaining</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pic>
        <p:nvPicPr>
          <p:cNvPr id="203" name="Google Shape;203;p28"/>
          <p:cNvPicPr preferRelativeResize="0"/>
          <p:nvPr/>
        </p:nvPicPr>
        <p:blipFill rotWithShape="1">
          <a:blip r:embed="rId3">
            <a:alphaModFix/>
          </a:blip>
          <a:srcRect b="0" l="0" r="0" t="0"/>
          <a:stretch/>
        </p:blipFill>
        <p:spPr>
          <a:xfrm>
            <a:off x="305740" y="161817"/>
            <a:ext cx="11580519" cy="6534365"/>
          </a:xfrm>
          <a:prstGeom prst="rect">
            <a:avLst/>
          </a:prstGeom>
          <a:noFill/>
          <a:ln>
            <a:noFill/>
          </a:ln>
        </p:spPr>
      </p:pic>
      <p:cxnSp>
        <p:nvCxnSpPr>
          <p:cNvPr id="204" name="Google Shape;204;p28"/>
          <p:cNvCxnSpPr/>
          <p:nvPr/>
        </p:nvCxnSpPr>
        <p:spPr>
          <a:xfrm rot="10800000">
            <a:off x="1284271" y="3102796"/>
            <a:ext cx="8445356" cy="1336497"/>
          </a:xfrm>
          <a:prstGeom prst="straightConnector1">
            <a:avLst/>
          </a:prstGeom>
          <a:noFill/>
          <a:ln cap="flat" cmpd="sng" w="19050">
            <a:solidFill>
              <a:srgbClr val="FF0000"/>
            </a:solidFill>
            <a:prstDash val="solid"/>
            <a:miter lim="800000"/>
            <a:headEnd len="sm" w="sm" type="none"/>
            <a:tailEnd len="med" w="med" type="triangle"/>
          </a:ln>
        </p:spPr>
      </p:cxnSp>
      <p:sp>
        <p:nvSpPr>
          <p:cNvPr id="205" name="Google Shape;205;p28"/>
          <p:cNvSpPr txBox="1"/>
          <p:nvPr/>
        </p:nvSpPr>
        <p:spPr>
          <a:xfrm>
            <a:off x="9821154" y="3428999"/>
            <a:ext cx="2065106" cy="25853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FF0000"/>
                </a:solidFill>
                <a:latin typeface="Calibri"/>
                <a:ea typeface="Calibri"/>
                <a:cs typeface="Calibri"/>
                <a:sym typeface="Calibri"/>
              </a:rPr>
              <a:t>Start with semester (ex: 2026SP) to avoid registering student for the wrong term; then put in the course, ex: 2026SP aca-122, to see a list of sections.</a:t>
            </a:r>
            <a:endParaRPr/>
          </a:p>
        </p:txBody>
      </p:sp>
      <p:sp>
        <p:nvSpPr>
          <p:cNvPr id="206" name="Google Shape;206;p28"/>
          <p:cNvSpPr/>
          <p:nvPr/>
        </p:nvSpPr>
        <p:spPr>
          <a:xfrm>
            <a:off x="1561671" y="4685016"/>
            <a:ext cx="400693" cy="318499"/>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7" name="Google Shape;207;p28"/>
          <p:cNvSpPr/>
          <p:nvPr/>
        </p:nvSpPr>
        <p:spPr>
          <a:xfrm>
            <a:off x="1833937" y="5813461"/>
            <a:ext cx="277402" cy="318499"/>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208" name="Google Shape;208;p28"/>
          <p:cNvCxnSpPr/>
          <p:nvPr/>
        </p:nvCxnSpPr>
        <p:spPr>
          <a:xfrm rot="10800000">
            <a:off x="1833938" y="5003515"/>
            <a:ext cx="683231" cy="922534"/>
          </a:xfrm>
          <a:prstGeom prst="straightConnector1">
            <a:avLst/>
          </a:prstGeom>
          <a:noFill/>
          <a:ln cap="flat" cmpd="sng" w="9525">
            <a:solidFill>
              <a:srgbClr val="FF0000"/>
            </a:solidFill>
            <a:prstDash val="solid"/>
            <a:miter lim="800000"/>
            <a:headEnd len="sm" w="sm" type="none"/>
            <a:tailEnd len="med" w="med" type="triangle"/>
          </a:ln>
        </p:spPr>
      </p:cxnSp>
      <p:cxnSp>
        <p:nvCxnSpPr>
          <p:cNvPr id="209" name="Google Shape;209;p28"/>
          <p:cNvCxnSpPr/>
          <p:nvPr/>
        </p:nvCxnSpPr>
        <p:spPr>
          <a:xfrm rot="10800000">
            <a:off x="2111339" y="5965860"/>
            <a:ext cx="292815" cy="0"/>
          </a:xfrm>
          <a:prstGeom prst="straightConnector1">
            <a:avLst/>
          </a:prstGeom>
          <a:noFill/>
          <a:ln cap="flat" cmpd="sng" w="9525">
            <a:solidFill>
              <a:srgbClr val="FF0000"/>
            </a:solidFill>
            <a:prstDash val="solid"/>
            <a:miter lim="800000"/>
            <a:headEnd len="sm" w="sm" type="none"/>
            <a:tailEnd len="med" w="med" type="triangle"/>
          </a:ln>
        </p:spPr>
      </p:cxnSp>
      <p:sp>
        <p:nvSpPr>
          <p:cNvPr id="210" name="Google Shape;210;p28"/>
          <p:cNvSpPr txBox="1"/>
          <p:nvPr/>
        </p:nvSpPr>
        <p:spPr>
          <a:xfrm>
            <a:off x="2383605" y="5806310"/>
            <a:ext cx="1171254"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FF0000"/>
                </a:solidFill>
                <a:latin typeface="Calibri"/>
                <a:ea typeface="Calibri"/>
                <a:cs typeface="Calibri"/>
                <a:sym typeface="Calibri"/>
              </a:rPr>
              <a:t>View Schedule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TSUM</a:t>
            </a:r>
            <a:endParaRPr/>
          </a:p>
        </p:txBody>
      </p:sp>
      <p:pic>
        <p:nvPicPr>
          <p:cNvPr id="216" name="Google Shape;216;p29"/>
          <p:cNvPicPr preferRelativeResize="0"/>
          <p:nvPr>
            <p:ph idx="1" type="body"/>
          </p:nvPr>
        </p:nvPicPr>
        <p:blipFill rotWithShape="1">
          <a:blip r:embed="rId3">
            <a:alphaModFix/>
          </a:blip>
          <a:srcRect b="0" l="0" r="0" t="0"/>
          <a:stretch/>
        </p:blipFill>
        <p:spPr>
          <a:xfrm>
            <a:off x="1680672" y="1825625"/>
            <a:ext cx="8830656" cy="4351338"/>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Course Forms</a:t>
            </a:r>
            <a:endParaRPr/>
          </a:p>
        </p:txBody>
      </p:sp>
      <p:pic>
        <p:nvPicPr>
          <p:cNvPr id="222" name="Google Shape;222;p30"/>
          <p:cNvPicPr preferRelativeResize="0"/>
          <p:nvPr>
            <p:ph idx="1" type="body"/>
          </p:nvPr>
        </p:nvPicPr>
        <p:blipFill rotWithShape="1">
          <a:blip r:embed="rId3">
            <a:alphaModFix/>
          </a:blip>
          <a:srcRect b="0" l="0" r="0" t="0"/>
          <a:stretch/>
        </p:blipFill>
        <p:spPr>
          <a:xfrm>
            <a:off x="1744662" y="1825625"/>
            <a:ext cx="8702676" cy="4351338"/>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Common Course Forms</a:t>
            </a:r>
            <a:endParaRPr/>
          </a:p>
        </p:txBody>
      </p:sp>
      <p:sp>
        <p:nvSpPr>
          <p:cNvPr id="228" name="Google Shape;228;p3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RSTR = Roster of the students in the class</a:t>
            </a:r>
            <a:endParaRPr/>
          </a:p>
          <a:p>
            <a:pPr indent="-228600" lvl="0" marL="228600" rtl="0" algn="l">
              <a:lnSpc>
                <a:spcPct val="90000"/>
              </a:lnSpc>
              <a:spcBef>
                <a:spcPts val="1000"/>
              </a:spcBef>
              <a:spcAft>
                <a:spcPts val="0"/>
              </a:spcAft>
              <a:buClr>
                <a:schemeClr val="dk1"/>
              </a:buClr>
              <a:buSzPts val="2800"/>
              <a:buChar char="•"/>
            </a:pPr>
            <a:r>
              <a:rPr lang="en-US"/>
              <a:t>SROS = Roster with add/drop/withdraw and other details</a:t>
            </a:r>
            <a:endParaRPr/>
          </a:p>
          <a:p>
            <a:pPr indent="-228600" lvl="0" marL="228600" rtl="0" algn="l">
              <a:lnSpc>
                <a:spcPct val="90000"/>
              </a:lnSpc>
              <a:spcBef>
                <a:spcPts val="1000"/>
              </a:spcBef>
              <a:spcAft>
                <a:spcPts val="0"/>
              </a:spcAft>
              <a:buClr>
                <a:schemeClr val="dk1"/>
              </a:buClr>
              <a:buSzPts val="2800"/>
              <a:buChar char="•"/>
            </a:pPr>
            <a:r>
              <a:rPr lang="en-US"/>
              <a:t>SPRT = Prerequisite report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RSTR</a:t>
            </a:r>
            <a:endParaRPr/>
          </a:p>
        </p:txBody>
      </p:sp>
      <p:sp>
        <p:nvSpPr>
          <p:cNvPr id="234" name="Google Shape;234;p3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Put in the course section (i.e., ACA-122-LB1)—limit to the current semester by putting that in first (2025fa ENG-111)</a:t>
            </a:r>
            <a:endParaRPr/>
          </a:p>
          <a:p>
            <a:pPr indent="-228600" lvl="0" marL="228600" rtl="0" algn="l">
              <a:lnSpc>
                <a:spcPct val="90000"/>
              </a:lnSpc>
              <a:spcBef>
                <a:spcPts val="1000"/>
              </a:spcBef>
              <a:spcAft>
                <a:spcPts val="0"/>
              </a:spcAft>
              <a:buClr>
                <a:schemeClr val="dk1"/>
              </a:buClr>
              <a:buSzPts val="2800"/>
              <a:buChar char="•"/>
            </a:pPr>
            <a:r>
              <a:rPr lang="en-US"/>
              <a:t>This returns a list of the students in the class.</a:t>
            </a:r>
            <a:endParaRPr/>
          </a:p>
          <a:p>
            <a:pPr indent="-228600" lvl="0" marL="228600" rtl="0" algn="l">
              <a:lnSpc>
                <a:spcPct val="90000"/>
              </a:lnSpc>
              <a:spcBef>
                <a:spcPts val="1000"/>
              </a:spcBef>
              <a:spcAft>
                <a:spcPts val="0"/>
              </a:spcAft>
              <a:buClr>
                <a:schemeClr val="dk1"/>
              </a:buClr>
              <a:buSzPts val="2800"/>
              <a:buChar char="•"/>
            </a:pPr>
            <a:r>
              <a:rPr lang="en-US"/>
              <a:t>You can export by clicking the Excel icon (upper left).</a:t>
            </a:r>
            <a:endParaRPr/>
          </a:p>
        </p:txBody>
      </p:sp>
      <p:pic>
        <p:nvPicPr>
          <p:cNvPr id="235" name="Google Shape;235;p32"/>
          <p:cNvPicPr preferRelativeResize="0"/>
          <p:nvPr>
            <p:ph idx="2" type="body"/>
          </p:nvPr>
        </p:nvPicPr>
        <p:blipFill rotWithShape="1">
          <a:blip r:embed="rId3">
            <a:alphaModFix/>
          </a:blip>
          <a:srcRect b="0" l="0" r="0" t="0"/>
          <a:stretch/>
        </p:blipFill>
        <p:spPr>
          <a:xfrm>
            <a:off x="6172200" y="2157367"/>
            <a:ext cx="5181600" cy="368785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pic>
        <p:nvPicPr>
          <p:cNvPr id="240" name="Google Shape;240;p33"/>
          <p:cNvPicPr preferRelativeResize="0"/>
          <p:nvPr/>
        </p:nvPicPr>
        <p:blipFill rotWithShape="1">
          <a:blip r:embed="rId3">
            <a:alphaModFix/>
          </a:blip>
          <a:srcRect b="70646" l="0" r="0" t="0"/>
          <a:stretch/>
        </p:blipFill>
        <p:spPr>
          <a:xfrm>
            <a:off x="261937" y="76200"/>
            <a:ext cx="11668125" cy="1968357"/>
          </a:xfrm>
          <a:prstGeom prst="rect">
            <a:avLst/>
          </a:prstGeom>
          <a:noFill/>
          <a:ln>
            <a:noFill/>
          </a:ln>
        </p:spPr>
      </p:pic>
      <p:pic>
        <p:nvPicPr>
          <p:cNvPr id="241" name="Google Shape;241;p33"/>
          <p:cNvPicPr preferRelativeResize="0"/>
          <p:nvPr/>
        </p:nvPicPr>
        <p:blipFill rotWithShape="1">
          <a:blip r:embed="rId4">
            <a:alphaModFix/>
          </a:blip>
          <a:srcRect b="0" l="0" r="0" t="29354"/>
          <a:stretch/>
        </p:blipFill>
        <p:spPr>
          <a:xfrm>
            <a:off x="261937" y="2044556"/>
            <a:ext cx="11668125" cy="4737243"/>
          </a:xfrm>
          <a:prstGeom prst="rect">
            <a:avLst/>
          </a:prstGeom>
          <a:noFill/>
          <a:ln>
            <a:noFill/>
          </a:ln>
        </p:spPr>
      </p:pic>
      <p:sp>
        <p:nvSpPr>
          <p:cNvPr id="242" name="Google Shape;242;p33"/>
          <p:cNvSpPr/>
          <p:nvPr/>
        </p:nvSpPr>
        <p:spPr>
          <a:xfrm>
            <a:off x="261937" y="390418"/>
            <a:ext cx="323690" cy="349321"/>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243" name="Google Shape;243;p33"/>
          <p:cNvCxnSpPr/>
          <p:nvPr/>
        </p:nvCxnSpPr>
        <p:spPr>
          <a:xfrm rot="10800000">
            <a:off x="441789" y="739739"/>
            <a:ext cx="554804" cy="780836"/>
          </a:xfrm>
          <a:prstGeom prst="straightConnector1">
            <a:avLst/>
          </a:prstGeom>
          <a:noFill/>
          <a:ln cap="flat" cmpd="sng" w="9525">
            <a:solidFill>
              <a:srgbClr val="FF0000"/>
            </a:solidFill>
            <a:prstDash val="solid"/>
            <a:miter lim="800000"/>
            <a:headEnd len="sm" w="sm" type="none"/>
            <a:tailEnd len="med" w="med" type="triangle"/>
          </a:ln>
        </p:spPr>
      </p:cxnSp>
      <p:sp>
        <p:nvSpPr>
          <p:cNvPr id="244" name="Google Shape;244;p33"/>
          <p:cNvSpPr txBox="1"/>
          <p:nvPr/>
        </p:nvSpPr>
        <p:spPr>
          <a:xfrm>
            <a:off x="719191" y="1428108"/>
            <a:ext cx="168496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FF0000"/>
                </a:solidFill>
                <a:latin typeface="Calibri"/>
                <a:ea typeface="Calibri"/>
                <a:cs typeface="Calibri"/>
                <a:sym typeface="Calibri"/>
              </a:rPr>
              <a:t>Export to Excel</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RSTR Continued</a:t>
            </a:r>
            <a:endParaRPr/>
          </a:p>
        </p:txBody>
      </p:sp>
      <p:sp>
        <p:nvSpPr>
          <p:cNvPr id="250" name="Google Shape;250;p34"/>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You can drill in to see details about a student by clicking on the form icon to the right of their name.</a:t>
            </a:r>
            <a:endParaRPr/>
          </a:p>
        </p:txBody>
      </p:sp>
      <p:pic>
        <p:nvPicPr>
          <p:cNvPr id="251" name="Google Shape;251;p34"/>
          <p:cNvPicPr preferRelativeResize="0"/>
          <p:nvPr>
            <p:ph idx="2" type="body"/>
          </p:nvPr>
        </p:nvPicPr>
        <p:blipFill rotWithShape="1">
          <a:blip r:embed="rId3">
            <a:alphaModFix/>
          </a:blip>
          <a:srcRect b="0" l="0" r="0" t="0"/>
          <a:stretch/>
        </p:blipFill>
        <p:spPr>
          <a:xfrm>
            <a:off x="6415087" y="2701131"/>
            <a:ext cx="4695825" cy="26003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SROS</a:t>
            </a:r>
            <a:endParaRPr/>
          </a:p>
        </p:txBody>
      </p:sp>
      <p:sp>
        <p:nvSpPr>
          <p:cNvPr id="257" name="Google Shape;257;p3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SROS is another roster option. This shows when students registered, added, dropped or withdrew. It also shows their advisors.</a:t>
            </a:r>
            <a:endParaRPr/>
          </a:p>
          <a:p>
            <a:pPr indent="-228600" lvl="0" marL="228600" rtl="0" algn="l">
              <a:lnSpc>
                <a:spcPct val="90000"/>
              </a:lnSpc>
              <a:spcBef>
                <a:spcPts val="1000"/>
              </a:spcBef>
              <a:spcAft>
                <a:spcPts val="0"/>
              </a:spcAft>
              <a:buClr>
                <a:schemeClr val="dk1"/>
              </a:buClr>
              <a:buSzPts val="2800"/>
              <a:buChar char="•"/>
            </a:pPr>
            <a:r>
              <a:rPr lang="en-US"/>
              <a:t>It’s a little more complicated to use, with multiple screens that need to be populated &amp; saved.</a:t>
            </a:r>
            <a:endParaRPr/>
          </a:p>
        </p:txBody>
      </p:sp>
      <p:pic>
        <p:nvPicPr>
          <p:cNvPr id="258" name="Google Shape;258;p35"/>
          <p:cNvPicPr preferRelativeResize="0"/>
          <p:nvPr>
            <p:ph idx="2" type="body"/>
          </p:nvPr>
        </p:nvPicPr>
        <p:blipFill rotWithShape="1">
          <a:blip r:embed="rId3">
            <a:alphaModFix/>
          </a:blip>
          <a:srcRect b="0" l="0" r="0" t="0"/>
          <a:stretch/>
        </p:blipFill>
        <p:spPr>
          <a:xfrm>
            <a:off x="6172200" y="2116834"/>
            <a:ext cx="5181600" cy="376892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SROS Steps</a:t>
            </a:r>
            <a:endParaRPr/>
          </a:p>
        </p:txBody>
      </p:sp>
      <p:sp>
        <p:nvSpPr>
          <p:cNvPr id="264" name="Google Shape;264;p3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fontScale="92500" lnSpcReduction="20000"/>
          </a:bodyPr>
          <a:lstStyle/>
          <a:p>
            <a:pPr indent="-514350" lvl="0" marL="514350" rtl="0" algn="l">
              <a:lnSpc>
                <a:spcPct val="90000"/>
              </a:lnSpc>
              <a:spcBef>
                <a:spcPts val="0"/>
              </a:spcBef>
              <a:spcAft>
                <a:spcPts val="0"/>
              </a:spcAft>
              <a:buClr>
                <a:schemeClr val="dk1"/>
              </a:buClr>
              <a:buSzPct val="100000"/>
              <a:buFont typeface="Calibri"/>
              <a:buAutoNum type="arabicPeriod"/>
            </a:pPr>
            <a:r>
              <a:rPr lang="en-US"/>
              <a:t>Put in the section—start with the semester: 2024fa ENG-111-LL1</a:t>
            </a:r>
            <a:endParaRPr/>
          </a:p>
          <a:p>
            <a:pPr indent="-514350" lvl="0" marL="514350" rtl="0" algn="l">
              <a:lnSpc>
                <a:spcPct val="90000"/>
              </a:lnSpc>
              <a:spcBef>
                <a:spcPts val="1000"/>
              </a:spcBef>
              <a:spcAft>
                <a:spcPts val="0"/>
              </a:spcAft>
              <a:buClr>
                <a:schemeClr val="dk1"/>
              </a:buClr>
              <a:buSzPct val="100000"/>
              <a:buFont typeface="Calibri"/>
              <a:buAutoNum type="arabicPeriod"/>
            </a:pPr>
            <a:r>
              <a:rPr lang="en-US"/>
              <a:t>Click the blue save button.</a:t>
            </a:r>
            <a:endParaRPr/>
          </a:p>
          <a:p>
            <a:pPr indent="-514350" lvl="0" marL="514350" rtl="0" algn="l">
              <a:lnSpc>
                <a:spcPct val="90000"/>
              </a:lnSpc>
              <a:spcBef>
                <a:spcPts val="1000"/>
              </a:spcBef>
              <a:spcAft>
                <a:spcPts val="0"/>
              </a:spcAft>
              <a:buClr>
                <a:schemeClr val="dk1"/>
              </a:buClr>
              <a:buSzPct val="100000"/>
              <a:buFont typeface="Calibri"/>
              <a:buAutoNum type="arabicPeriod"/>
            </a:pPr>
            <a:r>
              <a:rPr lang="en-US"/>
              <a:t>Click Update.</a:t>
            </a:r>
            <a:endParaRPr/>
          </a:p>
          <a:p>
            <a:pPr indent="-514350" lvl="0" marL="514350" rtl="0" algn="l">
              <a:lnSpc>
                <a:spcPct val="90000"/>
              </a:lnSpc>
              <a:spcBef>
                <a:spcPts val="1000"/>
              </a:spcBef>
              <a:spcAft>
                <a:spcPts val="0"/>
              </a:spcAft>
              <a:buClr>
                <a:schemeClr val="dk1"/>
              </a:buClr>
              <a:buSzPct val="100000"/>
              <a:buFont typeface="Calibri"/>
              <a:buAutoNum type="arabicPeriod"/>
            </a:pPr>
            <a:r>
              <a:rPr lang="en-US"/>
              <a:t>Click Save.</a:t>
            </a:r>
            <a:endParaRPr/>
          </a:p>
          <a:p>
            <a:pPr indent="-514350" lvl="0" marL="514350" rtl="0" algn="l">
              <a:lnSpc>
                <a:spcPct val="90000"/>
              </a:lnSpc>
              <a:spcBef>
                <a:spcPts val="1000"/>
              </a:spcBef>
              <a:spcAft>
                <a:spcPts val="0"/>
              </a:spcAft>
              <a:buClr>
                <a:schemeClr val="dk1"/>
              </a:buClr>
              <a:buSzPct val="100000"/>
              <a:buFont typeface="Calibri"/>
              <a:buAutoNum type="arabicPeriod"/>
            </a:pPr>
            <a:r>
              <a:rPr lang="en-US"/>
              <a:t>Click update.</a:t>
            </a:r>
            <a:endParaRPr/>
          </a:p>
          <a:p>
            <a:pPr indent="-514350" lvl="0" marL="514350" rtl="0" algn="l">
              <a:lnSpc>
                <a:spcPct val="90000"/>
              </a:lnSpc>
              <a:spcBef>
                <a:spcPts val="1000"/>
              </a:spcBef>
              <a:spcAft>
                <a:spcPts val="0"/>
              </a:spcAft>
              <a:buClr>
                <a:schemeClr val="dk1"/>
              </a:buClr>
              <a:buSzPct val="100000"/>
              <a:buFont typeface="Calibri"/>
              <a:buAutoNum type="arabicPeriod"/>
            </a:pPr>
            <a:r>
              <a:rPr lang="en-US"/>
              <a:t>Make sure Output device is H for Hold.</a:t>
            </a:r>
            <a:endParaRPr/>
          </a:p>
          <a:p>
            <a:pPr indent="-514350" lvl="0" marL="514350" rtl="0" algn="l">
              <a:lnSpc>
                <a:spcPct val="90000"/>
              </a:lnSpc>
              <a:spcBef>
                <a:spcPts val="1000"/>
              </a:spcBef>
              <a:spcAft>
                <a:spcPts val="0"/>
              </a:spcAft>
              <a:buClr>
                <a:schemeClr val="dk1"/>
              </a:buClr>
              <a:buSzPct val="100000"/>
              <a:buFont typeface="Calibri"/>
              <a:buAutoNum type="arabicPeriod"/>
            </a:pPr>
            <a:r>
              <a:rPr lang="en-US"/>
              <a:t>Click Save &amp; update again.</a:t>
            </a:r>
            <a:endParaRPr/>
          </a:p>
          <a:p>
            <a:pPr indent="-514350" lvl="0" marL="514350" rtl="0" algn="l">
              <a:lnSpc>
                <a:spcPct val="90000"/>
              </a:lnSpc>
              <a:spcBef>
                <a:spcPts val="1000"/>
              </a:spcBef>
              <a:spcAft>
                <a:spcPts val="0"/>
              </a:spcAft>
              <a:buClr>
                <a:schemeClr val="dk1"/>
              </a:buClr>
              <a:buSzPct val="100000"/>
              <a:buFont typeface="Calibri"/>
              <a:buAutoNum type="arabicPeriod"/>
            </a:pPr>
            <a:r>
              <a:rPr lang="en-US"/>
              <a:t>Click Save &amp; update one more time.</a:t>
            </a:r>
            <a:endParaRPr/>
          </a:p>
        </p:txBody>
      </p:sp>
      <p:pic>
        <p:nvPicPr>
          <p:cNvPr id="265" name="Google Shape;265;p36"/>
          <p:cNvPicPr preferRelativeResize="0"/>
          <p:nvPr>
            <p:ph idx="2" type="body"/>
          </p:nvPr>
        </p:nvPicPr>
        <p:blipFill rotWithShape="1">
          <a:blip r:embed="rId3">
            <a:alphaModFix/>
          </a:blip>
          <a:srcRect b="0" l="0" r="0" t="0"/>
          <a:stretch/>
        </p:blipFill>
        <p:spPr>
          <a:xfrm>
            <a:off x="6172202" y="1825625"/>
            <a:ext cx="5181600" cy="3750337"/>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3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SROS Result</a:t>
            </a:r>
            <a:endParaRPr/>
          </a:p>
        </p:txBody>
      </p:sp>
      <p:pic>
        <p:nvPicPr>
          <p:cNvPr id="271" name="Google Shape;271;p37"/>
          <p:cNvPicPr preferRelativeResize="0"/>
          <p:nvPr>
            <p:ph idx="1" type="body"/>
          </p:nvPr>
        </p:nvPicPr>
        <p:blipFill rotWithShape="1">
          <a:blip r:embed="rId3">
            <a:alphaModFix/>
          </a:blip>
          <a:srcRect b="0" l="0" r="0" t="0"/>
          <a:stretch/>
        </p:blipFill>
        <p:spPr>
          <a:xfrm>
            <a:off x="3039762" y="1321622"/>
            <a:ext cx="5708822" cy="50054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3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SPRT</a:t>
            </a:r>
            <a:endParaRPr/>
          </a:p>
        </p:txBody>
      </p:sp>
      <p:sp>
        <p:nvSpPr>
          <p:cNvPr id="277" name="Google Shape;277;p3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SPRT lets you check prerequisites. </a:t>
            </a:r>
            <a:endParaRPr/>
          </a:p>
          <a:p>
            <a:pPr indent="-228600" lvl="0" marL="228600" rtl="0" algn="l">
              <a:lnSpc>
                <a:spcPct val="90000"/>
              </a:lnSpc>
              <a:spcBef>
                <a:spcPts val="1000"/>
              </a:spcBef>
              <a:spcAft>
                <a:spcPts val="0"/>
              </a:spcAft>
              <a:buClr>
                <a:schemeClr val="dk1"/>
              </a:buClr>
              <a:buSzPts val="2800"/>
              <a:buChar char="•"/>
            </a:pPr>
            <a:r>
              <a:rPr lang="en-US"/>
              <a:t>It works like SROS—you input the section and click through, saving and updating until you get the report.</a:t>
            </a:r>
            <a:endParaRPr/>
          </a:p>
        </p:txBody>
      </p:sp>
      <p:pic>
        <p:nvPicPr>
          <p:cNvPr id="278" name="Google Shape;278;p38"/>
          <p:cNvPicPr preferRelativeResize="0"/>
          <p:nvPr>
            <p:ph idx="2" type="body"/>
          </p:nvPr>
        </p:nvPicPr>
        <p:blipFill rotWithShape="1">
          <a:blip r:embed="rId3">
            <a:alphaModFix/>
          </a:blip>
          <a:srcRect b="0" l="0" r="0" t="0"/>
          <a:stretch/>
        </p:blipFill>
        <p:spPr>
          <a:xfrm>
            <a:off x="6172200" y="2122013"/>
            <a:ext cx="5181600" cy="3758561"/>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3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SPRT Report</a:t>
            </a:r>
            <a:endParaRPr/>
          </a:p>
        </p:txBody>
      </p:sp>
      <p:pic>
        <p:nvPicPr>
          <p:cNvPr id="284" name="Google Shape;284;p39"/>
          <p:cNvPicPr preferRelativeResize="0"/>
          <p:nvPr>
            <p:ph idx="1" type="body"/>
          </p:nvPr>
        </p:nvPicPr>
        <p:blipFill rotWithShape="1">
          <a:blip r:embed="rId3">
            <a:alphaModFix/>
          </a:blip>
          <a:srcRect b="0" l="0" r="0" t="0"/>
          <a:stretch/>
        </p:blipFill>
        <p:spPr>
          <a:xfrm>
            <a:off x="2305524" y="1996532"/>
            <a:ext cx="7580952" cy="4009524"/>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4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Tips &amp; Tricks</a:t>
            </a:r>
            <a:endParaRPr/>
          </a:p>
        </p:txBody>
      </p:sp>
      <p:sp>
        <p:nvSpPr>
          <p:cNvPr id="290" name="Google Shape;290;p4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Semester format: YYYYSS = 2022FA, 2023SP, 2024SU</a:t>
            </a:r>
            <a:endParaRPr/>
          </a:p>
          <a:p>
            <a:pPr indent="-228600" lvl="1" marL="685800" rtl="0" algn="l">
              <a:lnSpc>
                <a:spcPct val="90000"/>
              </a:lnSpc>
              <a:spcBef>
                <a:spcPts val="500"/>
              </a:spcBef>
              <a:spcAft>
                <a:spcPts val="0"/>
              </a:spcAft>
              <a:buClr>
                <a:schemeClr val="dk1"/>
              </a:buClr>
              <a:buSzPts val="2400"/>
              <a:buChar char="•"/>
            </a:pPr>
            <a:r>
              <a:rPr lang="en-US"/>
              <a:t>Always start with the year and semester when you begin a new registration session for students or it will default to the current semester.</a:t>
            </a:r>
            <a:endParaRPr/>
          </a:p>
          <a:p>
            <a:pPr indent="-228600" lvl="0" marL="228600" rtl="0" algn="l">
              <a:lnSpc>
                <a:spcPct val="90000"/>
              </a:lnSpc>
              <a:spcBef>
                <a:spcPts val="1000"/>
              </a:spcBef>
              <a:spcAft>
                <a:spcPts val="0"/>
              </a:spcAft>
              <a:buClr>
                <a:schemeClr val="dk1"/>
              </a:buClr>
              <a:buSzPts val="2800"/>
              <a:buChar char="•"/>
            </a:pPr>
            <a:r>
              <a:rPr lang="en-US"/>
              <a:t>@ will take you to the last record used (either person or form)</a:t>
            </a:r>
            <a:endParaRPr/>
          </a:p>
          <a:p>
            <a:pPr indent="-228600" lvl="0" marL="228600" rtl="0" algn="l">
              <a:lnSpc>
                <a:spcPct val="90000"/>
              </a:lnSpc>
              <a:spcBef>
                <a:spcPts val="1000"/>
              </a:spcBef>
              <a:spcAft>
                <a:spcPts val="0"/>
              </a:spcAft>
              <a:buClr>
                <a:schemeClr val="dk1"/>
              </a:buClr>
              <a:buSzPts val="2800"/>
              <a:buChar char="•"/>
            </a:pPr>
            <a:r>
              <a:rPr lang="en-US"/>
              <a:t>Most screens can be exported to Excel by clicking the Excel icon</a:t>
            </a:r>
            <a:endParaRPr/>
          </a:p>
          <a:p>
            <a:pPr indent="-228600" lvl="0" marL="228600" rtl="0" algn="l">
              <a:lnSpc>
                <a:spcPct val="90000"/>
              </a:lnSpc>
              <a:spcBef>
                <a:spcPts val="1000"/>
              </a:spcBef>
              <a:spcAft>
                <a:spcPts val="0"/>
              </a:spcAft>
              <a:buClr>
                <a:schemeClr val="dk1"/>
              </a:buClr>
              <a:buSzPts val="2800"/>
              <a:buChar char="•"/>
            </a:pPr>
            <a:r>
              <a:rPr lang="en-US"/>
              <a:t>Avoid printing unless you download to PDF and save locally to your device first, especially with transcripts. (These will print on fancy paper in the registrar’s office—don’t do it!)</a:t>
            </a:r>
            <a:endParaRPr/>
          </a:p>
          <a:p>
            <a:pPr indent="-228600" lvl="0" marL="228600" rtl="0" algn="l">
              <a:lnSpc>
                <a:spcPct val="90000"/>
              </a:lnSpc>
              <a:spcBef>
                <a:spcPts val="1000"/>
              </a:spcBef>
              <a:spcAft>
                <a:spcPts val="0"/>
              </a:spcAft>
              <a:buClr>
                <a:schemeClr val="dk1"/>
              </a:buClr>
              <a:buSzPts val="2800"/>
              <a:buChar char="•"/>
            </a:pPr>
            <a:r>
              <a:rPr lang="en-US"/>
              <a:t>Putting  in … some fields will give you a menu/list of options.</a:t>
            </a:r>
            <a:endParaRPr/>
          </a:p>
        </p:txBody>
      </p:sp>
      <p:pic>
        <p:nvPicPr>
          <p:cNvPr id="291" name="Google Shape;291;p40"/>
          <p:cNvPicPr preferRelativeResize="0"/>
          <p:nvPr/>
        </p:nvPicPr>
        <p:blipFill rotWithShape="1">
          <a:blip r:embed="rId3">
            <a:alphaModFix/>
          </a:blip>
          <a:srcRect b="0" l="0" r="18050" t="0"/>
          <a:stretch/>
        </p:blipFill>
        <p:spPr>
          <a:xfrm>
            <a:off x="10321447" y="3591323"/>
            <a:ext cx="609408" cy="493267"/>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41"/>
          <p:cNvSpPr txBox="1"/>
          <p:nvPr>
            <p:ph type="title"/>
          </p:nvPr>
        </p:nvSpPr>
        <p:spPr>
          <a:xfrm>
            <a:off x="839788" y="457200"/>
            <a:ext cx="4728805" cy="16002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Calibri"/>
              <a:buNone/>
            </a:pPr>
            <a:r>
              <a:rPr b="1" lang="en-US"/>
              <a:t>Other less-frequently used Faculty mnemonics</a:t>
            </a:r>
            <a:r>
              <a:rPr lang="en-US"/>
              <a:t>:</a:t>
            </a:r>
            <a:endParaRPr/>
          </a:p>
        </p:txBody>
      </p:sp>
      <p:sp>
        <p:nvSpPr>
          <p:cNvPr id="297" name="Google Shape;297;p41"/>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None/>
            </a:pPr>
            <a:r>
              <a:t/>
            </a:r>
            <a:endParaRPr/>
          </a:p>
          <a:p>
            <a:pPr indent="-25400" lvl="0" marL="228600" rtl="0" algn="l">
              <a:lnSpc>
                <a:spcPct val="90000"/>
              </a:lnSpc>
              <a:spcBef>
                <a:spcPts val="1000"/>
              </a:spcBef>
              <a:spcAft>
                <a:spcPts val="0"/>
              </a:spcAft>
              <a:buClr>
                <a:schemeClr val="dk1"/>
              </a:buClr>
              <a:buSzPts val="3200"/>
              <a:buNone/>
            </a:pPr>
            <a:r>
              <a:t/>
            </a:r>
            <a:endParaRPr/>
          </a:p>
          <a:p>
            <a:pPr indent="-25400" lvl="0" marL="228600" rtl="0" algn="l">
              <a:lnSpc>
                <a:spcPct val="90000"/>
              </a:lnSpc>
              <a:spcBef>
                <a:spcPts val="1000"/>
              </a:spcBef>
              <a:spcAft>
                <a:spcPts val="0"/>
              </a:spcAft>
              <a:buClr>
                <a:schemeClr val="dk1"/>
              </a:buClr>
              <a:buSzPts val="3200"/>
              <a:buNone/>
            </a:pPr>
            <a:r>
              <a:t/>
            </a:r>
            <a:endParaRPr/>
          </a:p>
          <a:p>
            <a:pPr indent="-25400" lvl="0" marL="228600" rtl="0" algn="l">
              <a:lnSpc>
                <a:spcPct val="90000"/>
              </a:lnSpc>
              <a:spcBef>
                <a:spcPts val="1000"/>
              </a:spcBef>
              <a:spcAft>
                <a:spcPts val="0"/>
              </a:spcAft>
              <a:buClr>
                <a:schemeClr val="dk1"/>
              </a:buClr>
              <a:buSzPts val="3200"/>
              <a:buNone/>
            </a:pPr>
            <a:r>
              <a:t/>
            </a:r>
            <a:endParaRPr/>
          </a:p>
          <a:p>
            <a:pPr indent="-25400" lvl="0" marL="228600" rtl="0" algn="l">
              <a:lnSpc>
                <a:spcPct val="90000"/>
              </a:lnSpc>
              <a:spcBef>
                <a:spcPts val="1000"/>
              </a:spcBef>
              <a:spcAft>
                <a:spcPts val="0"/>
              </a:spcAft>
              <a:buClr>
                <a:schemeClr val="dk1"/>
              </a:buClr>
              <a:buSzPts val="3200"/>
              <a:buNone/>
            </a:pPr>
            <a:r>
              <a:t/>
            </a:r>
            <a:endParaRPr/>
          </a:p>
          <a:p>
            <a:pPr indent="-25400" lvl="0" marL="228600" rtl="0" algn="l">
              <a:lnSpc>
                <a:spcPct val="90000"/>
              </a:lnSpc>
              <a:spcBef>
                <a:spcPts val="1000"/>
              </a:spcBef>
              <a:spcAft>
                <a:spcPts val="0"/>
              </a:spcAft>
              <a:buClr>
                <a:schemeClr val="dk1"/>
              </a:buClr>
              <a:buSzPts val="3200"/>
              <a:buNone/>
            </a:pPr>
            <a:r>
              <a:t/>
            </a:r>
            <a:endParaRPr/>
          </a:p>
          <a:p>
            <a:pPr indent="0" lvl="0" marL="0" rtl="0" algn="ctr">
              <a:lnSpc>
                <a:spcPct val="90000"/>
              </a:lnSpc>
              <a:spcBef>
                <a:spcPts val="1000"/>
              </a:spcBef>
              <a:spcAft>
                <a:spcPts val="0"/>
              </a:spcAft>
              <a:buClr>
                <a:schemeClr val="dk1"/>
              </a:buClr>
              <a:buSzPts val="3200"/>
              <a:buNone/>
            </a:pPr>
            <a:r>
              <a:rPr lang="en-US"/>
              <a:t>Questions?</a:t>
            </a:r>
            <a:endParaRPr/>
          </a:p>
          <a:p>
            <a:pPr indent="0" lvl="0" marL="0" rtl="0" algn="ctr">
              <a:lnSpc>
                <a:spcPct val="90000"/>
              </a:lnSpc>
              <a:spcBef>
                <a:spcPts val="1000"/>
              </a:spcBef>
              <a:spcAft>
                <a:spcPts val="0"/>
              </a:spcAft>
              <a:buClr>
                <a:schemeClr val="dk1"/>
              </a:buClr>
              <a:buSzPts val="1800"/>
              <a:buNone/>
            </a:pPr>
            <a:r>
              <a:rPr lang="en-US" sz="1800"/>
              <a:t>Deana St. Peter, dstpe568@cccc.edu, x7396</a:t>
            </a:r>
            <a:endParaRPr/>
          </a:p>
        </p:txBody>
      </p:sp>
      <p:sp>
        <p:nvSpPr>
          <p:cNvPr id="298" name="Google Shape;298;p41"/>
          <p:cNvSpPr txBox="1"/>
          <p:nvPr>
            <p:ph idx="2" type="body"/>
          </p:nvPr>
        </p:nvSpPr>
        <p:spPr>
          <a:xfrm>
            <a:off x="839788" y="2057400"/>
            <a:ext cx="4636935" cy="381158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t/>
            </a:r>
            <a:endParaRPr sz="2400"/>
          </a:p>
          <a:p>
            <a:pPr indent="0" lvl="0" marL="0" rtl="0" algn="l">
              <a:lnSpc>
                <a:spcPct val="90000"/>
              </a:lnSpc>
              <a:spcBef>
                <a:spcPts val="1000"/>
              </a:spcBef>
              <a:spcAft>
                <a:spcPts val="0"/>
              </a:spcAft>
              <a:buClr>
                <a:schemeClr val="dk1"/>
              </a:buClr>
              <a:buSzPts val="2400"/>
              <a:buNone/>
            </a:pPr>
            <a:r>
              <a:rPr lang="en-US" sz="2400"/>
              <a:t>EXTS – External transcripts</a:t>
            </a:r>
            <a:endParaRPr/>
          </a:p>
          <a:p>
            <a:pPr indent="0" lvl="0" marL="0" rtl="0" algn="l">
              <a:lnSpc>
                <a:spcPct val="90000"/>
              </a:lnSpc>
              <a:spcBef>
                <a:spcPts val="1000"/>
              </a:spcBef>
              <a:spcAft>
                <a:spcPts val="0"/>
              </a:spcAft>
              <a:buClr>
                <a:schemeClr val="dk1"/>
              </a:buClr>
              <a:buSzPts val="2400"/>
              <a:buNone/>
            </a:pPr>
            <a:r>
              <a:rPr lang="en-US" sz="2400"/>
              <a:t>FADV—List of advisees</a:t>
            </a:r>
            <a:endParaRPr/>
          </a:p>
          <a:p>
            <a:pPr indent="0" lvl="0" marL="0" rtl="0" algn="l">
              <a:lnSpc>
                <a:spcPct val="90000"/>
              </a:lnSpc>
              <a:spcBef>
                <a:spcPts val="1000"/>
              </a:spcBef>
              <a:spcAft>
                <a:spcPts val="0"/>
              </a:spcAft>
              <a:buClr>
                <a:schemeClr val="dk1"/>
              </a:buClr>
              <a:buSzPts val="2400"/>
              <a:buNone/>
            </a:pPr>
            <a:r>
              <a:rPr lang="en-US" sz="2400"/>
              <a:t>LOCR—Student locator</a:t>
            </a:r>
            <a:endParaRPr/>
          </a:p>
        </p:txBody>
      </p:sp>
      <p:pic>
        <p:nvPicPr>
          <p:cNvPr descr="Principal's Point of View: The Three Questions" id="299" name="Google Shape;299;p41"/>
          <p:cNvPicPr preferRelativeResize="0"/>
          <p:nvPr/>
        </p:nvPicPr>
        <p:blipFill rotWithShape="1">
          <a:blip r:embed="rId3">
            <a:alphaModFix/>
          </a:blip>
          <a:srcRect b="0" l="0" r="0" t="0"/>
          <a:stretch/>
        </p:blipFill>
        <p:spPr>
          <a:xfrm>
            <a:off x="6715278" y="1631514"/>
            <a:ext cx="2857500" cy="24288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