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2" roundtripDataSignature="AMtx7mhs0OtZU9XfpPz7PX0gKc7D3rlM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e9227e8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9e9227e87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e9227e87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9e9227e879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e9227e87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e9227e879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e9227e879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9e9227e879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e9227e87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e9227e879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e9227e87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e9227e879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5.jp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hyperlink" Target="https://apply.cccc.edu/register/gradapp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hyperlink" Target="https://apply.cccc.edu/manage/form/form?id=bd954643-2bf1-4257-9f5e-4274f58da069" TargetMode="External"/><Relationship Id="rId7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8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1981200" y="-94024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5305630" y="3113402"/>
            <a:ext cx="10620300" cy="30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GRADUATION </a:t>
            </a:r>
            <a:r>
              <a:rPr b="1" lang="en-US" sz="10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PROCESS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03684" y="6564627"/>
            <a:ext cx="5722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7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Keeping you in the know!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1981200" y="6267450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rot="10800000">
            <a:off x="5623560" y="7673106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A9AD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13156322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7" name="Google Shape;97;p3"/>
          <p:cNvSpPr/>
          <p:nvPr/>
        </p:nvSpPr>
        <p:spPr>
          <a:xfrm>
            <a:off x="1028700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8" name="Google Shape;98;p3"/>
          <p:cNvSpPr txBox="1"/>
          <p:nvPr/>
        </p:nvSpPr>
        <p:spPr>
          <a:xfrm>
            <a:off x="3274358" y="4013508"/>
            <a:ext cx="112764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5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SPRING</a:t>
            </a:r>
            <a:r>
              <a:rPr b="1" i="0" lang="en-US" sz="6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 COMMENCEMENT</a:t>
            </a:r>
            <a:endParaRPr/>
          </a:p>
        </p:txBody>
      </p:sp>
      <p:sp>
        <p:nvSpPr>
          <p:cNvPr id="99" name="Google Shape;99;p3"/>
          <p:cNvSpPr txBox="1"/>
          <p:nvPr/>
        </p:nvSpPr>
        <p:spPr>
          <a:xfrm>
            <a:off x="1811851" y="6432242"/>
            <a:ext cx="142014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39750" lvl="1" marL="107950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Char char="•"/>
            </a:pPr>
            <a:r>
              <a:rPr b="1" i="0" lang="en-US" sz="5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DATE: </a:t>
            </a:r>
            <a:r>
              <a:rPr b="1" lang="en-US" sz="5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THURSDAY</a:t>
            </a:r>
            <a:r>
              <a:rPr b="1" i="0" lang="en-US" sz="5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, </a:t>
            </a:r>
            <a:r>
              <a:rPr b="1" lang="en-US" sz="5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MAY 14</a:t>
            </a:r>
            <a:r>
              <a:rPr b="1" i="0" lang="en-US" sz="5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, 202</a:t>
            </a:r>
            <a:r>
              <a:rPr b="1" lang="en-US" sz="5000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6</a:t>
            </a:r>
            <a:endParaRPr/>
          </a:p>
          <a:p>
            <a:pPr indent="-539750" lvl="1" marL="107950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Char char="•"/>
            </a:pPr>
            <a:r>
              <a:rPr b="1" i="0" lang="en-US" sz="5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TIME: 10:00 AM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13156322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p2"/>
          <p:cNvSpPr txBox="1"/>
          <p:nvPr/>
        </p:nvSpPr>
        <p:spPr>
          <a:xfrm>
            <a:off x="11759210" y="6991350"/>
            <a:ext cx="550009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OVERVIEW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2417556" y="2660046"/>
            <a:ext cx="2125274" cy="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81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01.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2417556" y="4344369"/>
            <a:ext cx="2125274" cy="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81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02.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4542830" y="2529364"/>
            <a:ext cx="7374866" cy="1200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4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HOW CAN A FACULTY ADVISOR TELL IF A STUDENT HAS FILLED OUT A GRADUATION APPLICATION?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4542830" y="4198069"/>
            <a:ext cx="7374866" cy="1200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4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WHAT DOES A FACULTY ADVISOR NEED TO DO TO VERIFY THAT A STUDENT IS READY TO GRADUATE?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417556" y="6013074"/>
            <a:ext cx="2125274" cy="88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81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03.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4542830" y="5866774"/>
            <a:ext cx="7374866" cy="1200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4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WHAT CAN A FACULTY ADVISOR DO TO ENCOURAGE STUDENTS TO FILL OUT GRADUATION APPLICATIONS?</a:t>
            </a:r>
            <a:endParaRPr/>
          </a:p>
        </p:txBody>
      </p:sp>
      <p:sp>
        <p:nvSpPr>
          <p:cNvPr id="112" name="Google Shape;112;p2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4"/>
          <p:cNvSpPr txBox="1"/>
          <p:nvPr/>
        </p:nvSpPr>
        <p:spPr>
          <a:xfrm>
            <a:off x="2417556" y="736974"/>
            <a:ext cx="6726444" cy="136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YOUR ROLE AS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AN ADVISOR</a:t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2417556" y="2352630"/>
            <a:ext cx="5953371" cy="2025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1. Monitor Applications:</a:t>
            </a:r>
            <a:r>
              <a:rPr b="0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Know which of your students have submitted their application(s) to graduate.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3156322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4"/>
          <p:cNvSpPr txBox="1"/>
          <p:nvPr/>
        </p:nvSpPr>
        <p:spPr>
          <a:xfrm>
            <a:off x="2417556" y="4709602"/>
            <a:ext cx="5953371" cy="1539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2. Verify Readiness:</a:t>
            </a:r>
            <a:r>
              <a:rPr b="0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Perform an academic review (EVAL) to confirm a student is on track.</a:t>
            </a:r>
            <a:endParaRPr/>
          </a:p>
        </p:txBody>
      </p:sp>
      <p:sp>
        <p:nvSpPr>
          <p:cNvPr id="122" name="Google Shape;122;p4"/>
          <p:cNvSpPr txBox="1"/>
          <p:nvPr/>
        </p:nvSpPr>
        <p:spPr>
          <a:xfrm>
            <a:off x="2417556" y="6580799"/>
            <a:ext cx="5953371" cy="2025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3. Encourage &amp; Guide Students:</a:t>
            </a:r>
            <a:r>
              <a:rPr b="0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Help students find the application and understand the deadlines.</a:t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11771186" y="1028700"/>
            <a:ext cx="5488114" cy="8229600"/>
          </a:xfrm>
          <a:custGeom>
            <a:rect b="b" l="l" r="r" t="t"/>
            <a:pathLst>
              <a:path extrusionOk="0" h="8229600" w="5488114">
                <a:moveTo>
                  <a:pt x="0" y="0"/>
                </a:moveTo>
                <a:lnTo>
                  <a:pt x="5488114" y="0"/>
                </a:lnTo>
                <a:lnTo>
                  <a:pt x="54881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e9227e879_0_5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g39e9227e879_0_5"/>
          <p:cNvSpPr txBox="1"/>
          <p:nvPr/>
        </p:nvSpPr>
        <p:spPr>
          <a:xfrm>
            <a:off x="2417550" y="736975"/>
            <a:ext cx="6726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STUDENT GRADUATION PROCESS</a:t>
            </a:r>
            <a:endParaRPr b="1" sz="4500">
              <a:solidFill>
                <a:srgbClr val="8CA9A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0" name="Google Shape;130;g39e9227e879_0_5"/>
          <p:cNvSpPr txBox="1"/>
          <p:nvPr/>
        </p:nvSpPr>
        <p:spPr>
          <a:xfrm>
            <a:off x="2417550" y="2352618"/>
            <a:ext cx="5953500" cy="5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venir"/>
              <a:buAutoNum type="arabicPeriod"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Meet with your advisor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venir"/>
              <a:buAutoNum type="arabicPeriod"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Submit Graduation Application(s)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venir"/>
              <a:buAutoNum type="arabicPeriod"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Order your regalia if participating in the ceremony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venir"/>
              <a:buAutoNum type="arabicPeriod"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Attend 1 Graduation Practice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3200"/>
              <a:buFont typeface="Avenir"/>
              <a:buAutoNum type="arabicPeriod"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Arrive early on Graduation Day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graduation   hat  degree (Provided by Getty Images)" id="131" name="Google Shape;131;g39e9227e879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10275" y="1760271"/>
            <a:ext cx="6849019" cy="68490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9e9227e879_0_5"/>
          <p:cNvSpPr/>
          <p:nvPr/>
        </p:nvSpPr>
        <p:spPr>
          <a:xfrm>
            <a:off x="13156322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e9227e879_0_34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g39e9227e879_0_34"/>
          <p:cNvSpPr txBox="1"/>
          <p:nvPr/>
        </p:nvSpPr>
        <p:spPr>
          <a:xfrm>
            <a:off x="2417550" y="736975"/>
            <a:ext cx="6726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MEET WITH YOUR ADVISOR</a:t>
            </a:r>
            <a:endParaRPr b="1" sz="4500">
              <a:solidFill>
                <a:srgbClr val="8CA9A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39" name="Google Shape;139;g39e9227e879_0_34"/>
          <p:cNvSpPr txBox="1"/>
          <p:nvPr/>
        </p:nvSpPr>
        <p:spPr>
          <a:xfrm>
            <a:off x="2417550" y="2352618"/>
            <a:ext cx="5953500" cy="57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Have your advisor review your student record to determine if you are eligible to graduate this semester. We get a fair amount of applications from students nowhere near graduating.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Advisors will also be able to advise on Stackable Credentials.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0" name="Google Shape;140;g39e9227e879_0_34"/>
          <p:cNvSpPr/>
          <p:nvPr/>
        </p:nvSpPr>
        <p:spPr>
          <a:xfrm>
            <a:off x="13156322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g39e9227e879_0_34"/>
          <p:cNvSpPr/>
          <p:nvPr/>
        </p:nvSpPr>
        <p:spPr>
          <a:xfrm>
            <a:off x="11771186" y="1028700"/>
            <a:ext cx="5488114" cy="8229600"/>
          </a:xfrm>
          <a:custGeom>
            <a:rect b="b" l="l" r="r" t="t"/>
            <a:pathLst>
              <a:path extrusionOk="0" h="8229600" w="5488114">
                <a:moveTo>
                  <a:pt x="0" y="0"/>
                </a:moveTo>
                <a:lnTo>
                  <a:pt x="5488114" y="0"/>
                </a:lnTo>
                <a:lnTo>
                  <a:pt x="54881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e9227e879_0_18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g39e9227e879_0_18"/>
          <p:cNvSpPr txBox="1"/>
          <p:nvPr/>
        </p:nvSpPr>
        <p:spPr>
          <a:xfrm>
            <a:off x="2417556" y="736974"/>
            <a:ext cx="6726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SUBMIT GRADUATION APPLICATION(S)</a:t>
            </a:r>
            <a:endParaRPr b="1" sz="4500">
              <a:solidFill>
                <a:srgbClr val="8CA9A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8" name="Google Shape;148;g39e9227e879_0_18"/>
          <p:cNvSpPr txBox="1"/>
          <p:nvPr/>
        </p:nvSpPr>
        <p:spPr>
          <a:xfrm>
            <a:off x="2417556" y="3126899"/>
            <a:ext cx="62649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Students </a:t>
            </a:r>
            <a:r>
              <a:rPr b="1" lang="en-US" sz="27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may</a:t>
            </a: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access the Graduation Application in their Success Hub or by using the following link:</a:t>
            </a:r>
            <a:endParaRPr/>
          </a:p>
        </p:txBody>
      </p:sp>
      <p:sp>
        <p:nvSpPr>
          <p:cNvPr id="149" name="Google Shape;149;g39e9227e879_0_18"/>
          <p:cNvSpPr txBox="1"/>
          <p:nvPr/>
        </p:nvSpPr>
        <p:spPr>
          <a:xfrm>
            <a:off x="2417556" y="4703384"/>
            <a:ext cx="701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4"/>
              </a:rPr>
              <a:t>https://apply.cccc.edu/register/gradapp</a:t>
            </a:r>
            <a:endParaRPr>
              <a:solidFill>
                <a:srgbClr val="737373"/>
              </a:solidFill>
            </a:endParaRPr>
          </a:p>
        </p:txBody>
      </p:sp>
      <p:sp>
        <p:nvSpPr>
          <p:cNvPr id="150" name="Google Shape;150;g39e9227e879_0_18"/>
          <p:cNvSpPr txBox="1"/>
          <p:nvPr/>
        </p:nvSpPr>
        <p:spPr>
          <a:xfrm>
            <a:off x="2417556" y="5775899"/>
            <a:ext cx="6264900" cy="22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The Graduation Application opens the first day of each semester.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7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The Fall Grad App deadline is October 17, 2025.</a:t>
            </a:r>
            <a:endParaRPr/>
          </a:p>
        </p:txBody>
      </p:sp>
      <p:sp>
        <p:nvSpPr>
          <p:cNvPr id="151" name="Google Shape;151;g39e9227e879_0_18"/>
          <p:cNvSpPr/>
          <p:nvPr/>
        </p:nvSpPr>
        <p:spPr>
          <a:xfrm>
            <a:off x="13156322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2" name="Google Shape;152;g39e9227e879_0_18" title="fram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85750" y="4961276"/>
            <a:ext cx="3873551" cy="387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e9227e879_0_41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g39e9227e879_0_41"/>
          <p:cNvSpPr txBox="1"/>
          <p:nvPr/>
        </p:nvSpPr>
        <p:spPr>
          <a:xfrm>
            <a:off x="2417550" y="736975"/>
            <a:ext cx="6726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ORDER YOUR REGALIA</a:t>
            </a:r>
            <a:endParaRPr b="1" sz="4500">
              <a:solidFill>
                <a:srgbClr val="8CA9A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59" name="Google Shape;159;g39e9227e879_0_41"/>
          <p:cNvSpPr txBox="1"/>
          <p:nvPr/>
        </p:nvSpPr>
        <p:spPr>
          <a:xfrm>
            <a:off x="2417550" y="2352618"/>
            <a:ext cx="59535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For those participating in the Graduation Ceremony, regalia (cap, tassel, and gown) is required.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Herff Jones, our regalia partner, takes orders and ships them in time for </a:t>
            </a: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the</a:t>
            </a: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Ceremony.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0" name="Google Shape;160;g39e9227e879_0_41"/>
          <p:cNvSpPr/>
          <p:nvPr/>
        </p:nvSpPr>
        <p:spPr>
          <a:xfrm>
            <a:off x="13156322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descr="Ready for graduation - Young female in gown (Provided by Getty Images)" id="161" name="Google Shape;161;g39e9227e879_0_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0250" y="0"/>
            <a:ext cx="6484628" cy="10287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e9227e879_0_48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g39e9227e879_0_48"/>
          <p:cNvSpPr txBox="1"/>
          <p:nvPr/>
        </p:nvSpPr>
        <p:spPr>
          <a:xfrm>
            <a:off x="2417550" y="736975"/>
            <a:ext cx="6726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ATTEND A GRADUATION PRACTICE</a:t>
            </a:r>
            <a:endParaRPr b="1" sz="4500">
              <a:solidFill>
                <a:srgbClr val="8CA9A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8" name="Google Shape;168;g39e9227e879_0_48"/>
          <p:cNvSpPr txBox="1"/>
          <p:nvPr/>
        </p:nvSpPr>
        <p:spPr>
          <a:xfrm>
            <a:off x="2417550" y="2352618"/>
            <a:ext cx="59535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We always have practice and information sessions for graduates walking in the ceremony. Spring requires 4 to allow the larger group of graduates to attend a practice. While not required, practice informs students and prepares them for the busy ceremony.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69" name="Google Shape;169;g39e9227e879_0_48"/>
          <p:cNvSpPr/>
          <p:nvPr/>
        </p:nvSpPr>
        <p:spPr>
          <a:xfrm>
            <a:off x="13156322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e9227e879_0_55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5" name="Google Shape;175;g39e9227e879_0_55"/>
          <p:cNvSpPr txBox="1"/>
          <p:nvPr/>
        </p:nvSpPr>
        <p:spPr>
          <a:xfrm>
            <a:off x="2417550" y="736975"/>
            <a:ext cx="67263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ARRIVE EARLY FOR GRADUATION</a:t>
            </a:r>
            <a:endParaRPr b="1" sz="4500">
              <a:solidFill>
                <a:srgbClr val="8CA9AD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6" name="Google Shape;176;g39e9227e879_0_55"/>
          <p:cNvSpPr txBox="1"/>
          <p:nvPr/>
        </p:nvSpPr>
        <p:spPr>
          <a:xfrm>
            <a:off x="2417550" y="2352618"/>
            <a:ext cx="5953500" cy="5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It’s important for graduates to arrive 45 minutes before the ceremony dressed in regalia.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With so many moving parts and participants, we use that time to get graduates in walking order and address any last minute issues that may come up.</a:t>
            </a:r>
            <a:endParaRPr b="1" sz="3200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77" name="Google Shape;177;g39e9227e879_0_55"/>
          <p:cNvSpPr/>
          <p:nvPr/>
        </p:nvSpPr>
        <p:spPr>
          <a:xfrm>
            <a:off x="13156322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descr="Rear view of a businessman looking up at a wall clock (Provided by Getty Images)" id="178" name="Google Shape;178;g39e9227e879_0_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650700" y="971125"/>
            <a:ext cx="5608592" cy="84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A9AD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"/>
          <p:cNvSpPr/>
          <p:nvPr/>
        </p:nvSpPr>
        <p:spPr>
          <a:xfrm>
            <a:off x="13156322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4" name="Google Shape;184;p5"/>
          <p:cNvSpPr/>
          <p:nvPr/>
        </p:nvSpPr>
        <p:spPr>
          <a:xfrm>
            <a:off x="1028700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5"/>
          <p:cNvSpPr txBox="1"/>
          <p:nvPr/>
        </p:nvSpPr>
        <p:spPr>
          <a:xfrm>
            <a:off x="3817999" y="4130675"/>
            <a:ext cx="11276283" cy="286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GRADUATION APPLICATION PROCESS: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MONITOR APPLICATIONS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6"/>
          <p:cNvSpPr/>
          <p:nvPr/>
        </p:nvSpPr>
        <p:spPr>
          <a:xfrm>
            <a:off x="10439400" y="1921561"/>
            <a:ext cx="7848600" cy="6443879"/>
          </a:xfrm>
          <a:custGeom>
            <a:rect b="b" l="l" r="r" t="t"/>
            <a:pathLst>
              <a:path extrusionOk="0" h="6443879" w="7848600">
                <a:moveTo>
                  <a:pt x="0" y="0"/>
                </a:moveTo>
                <a:lnTo>
                  <a:pt x="7848600" y="0"/>
                </a:lnTo>
                <a:lnTo>
                  <a:pt x="7848600" y="6443878"/>
                </a:lnTo>
                <a:lnTo>
                  <a:pt x="0" y="6443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2" name="Google Shape;192;p6"/>
          <p:cNvSpPr txBox="1"/>
          <p:nvPr/>
        </p:nvSpPr>
        <p:spPr>
          <a:xfrm>
            <a:off x="2417556" y="736974"/>
            <a:ext cx="6726444" cy="136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STUDENT SUBMITS GRAD APP(S)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2417556" y="2352630"/>
            <a:ext cx="5953500" cy="7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When a student submits a Grad App, </a:t>
            </a:r>
            <a:r>
              <a:rPr b="1" lang="en-US" sz="3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Advisors</a:t>
            </a: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will receive an email alerting </a:t>
            </a:r>
            <a:r>
              <a:rPr b="1" lang="en-US" sz="3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them </a:t>
            </a: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to the new application.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The student also receives an email confirmation of their submission.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Advisors</a:t>
            </a: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may use the link provided to access the application.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 rot="10800000">
            <a:off x="10419457" y="6125117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6" y="0"/>
                </a:lnTo>
                <a:lnTo>
                  <a:pt x="5450086" y="4161883"/>
                </a:lnTo>
                <a:lnTo>
                  <a:pt x="0" y="4161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7"/>
          <p:cNvSpPr/>
          <p:nvPr/>
        </p:nvSpPr>
        <p:spPr>
          <a:xfrm rot="10800000">
            <a:off x="11061889" y="-806818"/>
            <a:ext cx="4165223" cy="5950318"/>
          </a:xfrm>
          <a:custGeom>
            <a:rect b="b" l="l" r="r" t="t"/>
            <a:pathLst>
              <a:path extrusionOk="0" h="5950318" w="4165223">
                <a:moveTo>
                  <a:pt x="0" y="0"/>
                </a:moveTo>
                <a:lnTo>
                  <a:pt x="4165222" y="0"/>
                </a:lnTo>
                <a:lnTo>
                  <a:pt x="4165222" y="5950318"/>
                </a:lnTo>
                <a:lnTo>
                  <a:pt x="0" y="5950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7"/>
          <p:cNvSpPr txBox="1"/>
          <p:nvPr/>
        </p:nvSpPr>
        <p:spPr>
          <a:xfrm>
            <a:off x="2417550" y="981075"/>
            <a:ext cx="4514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USING THE GRADUATION APPLICATION</a:t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8667586" y="1028700"/>
            <a:ext cx="8591714" cy="8229600"/>
          </a:xfrm>
          <a:custGeom>
            <a:rect b="b" l="l" r="r" t="t"/>
            <a:pathLst>
              <a:path extrusionOk="0" h="8229600" w="8591714">
                <a:moveTo>
                  <a:pt x="0" y="0"/>
                </a:moveTo>
                <a:lnTo>
                  <a:pt x="8591714" y="0"/>
                </a:lnTo>
                <a:lnTo>
                  <a:pt x="85917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307" l="0" r="-93817" t="-12512"/>
            </a:stretch>
          </a:blipFill>
          <a:ln>
            <a:noFill/>
          </a:ln>
        </p:spPr>
      </p:sp>
      <p:sp>
        <p:nvSpPr>
          <p:cNvPr id="202" name="Google Shape;202;p7"/>
          <p:cNvSpPr txBox="1"/>
          <p:nvPr/>
        </p:nvSpPr>
        <p:spPr>
          <a:xfrm>
            <a:off x="2417556" y="3610158"/>
            <a:ext cx="47412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87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Spring</a:t>
            </a:r>
            <a:r>
              <a:rPr b="1" i="0" lang="en-US" sz="2787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Graduation Application:</a:t>
            </a:r>
            <a:r>
              <a:rPr b="0" i="0" lang="en-US" sz="2787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lang="en-US" sz="2787" u="sng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6"/>
              </a:rPr>
              <a:t>https://apply.cccc.edu/manage/form/form?id=bd954643-2bf1-4257-9f5e-4274f58da069</a:t>
            </a:r>
            <a:endParaRPr/>
          </a:p>
          <a:p>
            <a:pPr indent="0" lvl="0" marL="0" marR="0" rtl="0" algn="l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87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9626800" y="8075975"/>
            <a:ext cx="3345900" cy="555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7" title="frame (1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17550" y="6125133"/>
            <a:ext cx="3583544" cy="3583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"/>
          <p:cNvSpPr/>
          <p:nvPr/>
        </p:nvSpPr>
        <p:spPr>
          <a:xfrm rot="10800000">
            <a:off x="10419457" y="6125117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6" y="0"/>
                </a:lnTo>
                <a:lnTo>
                  <a:pt x="5450086" y="4161883"/>
                </a:lnTo>
                <a:lnTo>
                  <a:pt x="0" y="4161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8"/>
          <p:cNvSpPr/>
          <p:nvPr/>
        </p:nvSpPr>
        <p:spPr>
          <a:xfrm rot="10800000">
            <a:off x="11061889" y="-806818"/>
            <a:ext cx="4165223" cy="5950318"/>
          </a:xfrm>
          <a:custGeom>
            <a:rect b="b" l="l" r="r" t="t"/>
            <a:pathLst>
              <a:path extrusionOk="0" h="5950318" w="4165223">
                <a:moveTo>
                  <a:pt x="0" y="0"/>
                </a:moveTo>
                <a:lnTo>
                  <a:pt x="4165222" y="0"/>
                </a:lnTo>
                <a:lnTo>
                  <a:pt x="4165222" y="5950318"/>
                </a:lnTo>
                <a:lnTo>
                  <a:pt x="0" y="5950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8"/>
          <p:cNvSpPr txBox="1"/>
          <p:nvPr/>
        </p:nvSpPr>
        <p:spPr>
          <a:xfrm>
            <a:off x="2417550" y="981075"/>
            <a:ext cx="6726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USING THE GRADUATION APPLICATION</a:t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8776648" y="1028700"/>
            <a:ext cx="8591714" cy="8229600"/>
          </a:xfrm>
          <a:custGeom>
            <a:rect b="b" l="l" r="r" t="t"/>
            <a:pathLst>
              <a:path extrusionOk="0" h="8229600" w="8591714">
                <a:moveTo>
                  <a:pt x="0" y="0"/>
                </a:moveTo>
                <a:lnTo>
                  <a:pt x="8591714" y="0"/>
                </a:lnTo>
                <a:lnTo>
                  <a:pt x="85917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14" r="-32271" t="0"/>
            </a:stretch>
          </a:blipFill>
          <a:ln>
            <a:noFill/>
          </a:ln>
        </p:spPr>
      </p:sp>
      <p:sp>
        <p:nvSpPr>
          <p:cNvPr id="213" name="Google Shape;213;p8"/>
          <p:cNvSpPr txBox="1"/>
          <p:nvPr/>
        </p:nvSpPr>
        <p:spPr>
          <a:xfrm>
            <a:off x="2417556" y="3600633"/>
            <a:ext cx="4741144" cy="396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When clicking on an application, you will be presented with the individual application pop-up.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You will click the “Edit” button.</a:t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11102400" y="1656000"/>
            <a:ext cx="1627200" cy="259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217600" y="5587200"/>
            <a:ext cx="3110400" cy="2995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 rot="10800000">
            <a:off x="10419457" y="6125117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6" y="0"/>
                </a:lnTo>
                <a:lnTo>
                  <a:pt x="5450086" y="4161883"/>
                </a:lnTo>
                <a:lnTo>
                  <a:pt x="0" y="4161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9"/>
          <p:cNvSpPr/>
          <p:nvPr/>
        </p:nvSpPr>
        <p:spPr>
          <a:xfrm rot="10800000">
            <a:off x="11061889" y="-806818"/>
            <a:ext cx="4165223" cy="5950318"/>
          </a:xfrm>
          <a:custGeom>
            <a:rect b="b" l="l" r="r" t="t"/>
            <a:pathLst>
              <a:path extrusionOk="0" h="5950318" w="4165223">
                <a:moveTo>
                  <a:pt x="0" y="0"/>
                </a:moveTo>
                <a:lnTo>
                  <a:pt x="4165222" y="0"/>
                </a:lnTo>
                <a:lnTo>
                  <a:pt x="4165222" y="5950318"/>
                </a:lnTo>
                <a:lnTo>
                  <a:pt x="0" y="5950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2" name="Google Shape;222;p9"/>
          <p:cNvSpPr txBox="1"/>
          <p:nvPr/>
        </p:nvSpPr>
        <p:spPr>
          <a:xfrm>
            <a:off x="2417556" y="981075"/>
            <a:ext cx="6726444" cy="1990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USING THE GRADUATION APPLICATION</a:t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8667586" y="1028700"/>
            <a:ext cx="8591714" cy="8229600"/>
          </a:xfrm>
          <a:custGeom>
            <a:rect b="b" l="l" r="r" t="t"/>
            <a:pathLst>
              <a:path extrusionOk="0" h="8229600" w="8591714">
                <a:moveTo>
                  <a:pt x="0" y="0"/>
                </a:moveTo>
                <a:lnTo>
                  <a:pt x="8591714" y="0"/>
                </a:lnTo>
                <a:lnTo>
                  <a:pt x="85917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307" l="0" r="-93817" t="-12512"/>
            </a:stretch>
          </a:blipFill>
          <a:ln>
            <a:noFill/>
          </a:ln>
        </p:spPr>
      </p:sp>
      <p:sp>
        <p:nvSpPr>
          <p:cNvPr id="224" name="Google Shape;224;p9"/>
          <p:cNvSpPr/>
          <p:nvPr/>
        </p:nvSpPr>
        <p:spPr>
          <a:xfrm>
            <a:off x="8667586" y="1028700"/>
            <a:ext cx="8591714" cy="8229600"/>
          </a:xfrm>
          <a:custGeom>
            <a:rect b="b" l="l" r="r" t="t"/>
            <a:pathLst>
              <a:path extrusionOk="0" h="8229600" w="8591714">
                <a:moveTo>
                  <a:pt x="0" y="0"/>
                </a:moveTo>
                <a:lnTo>
                  <a:pt x="8591714" y="0"/>
                </a:lnTo>
                <a:lnTo>
                  <a:pt x="859171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314" r="-32271" t="0"/>
            </a:stretch>
          </a:blipFill>
          <a:ln>
            <a:noFill/>
          </a:ln>
        </p:spPr>
      </p:sp>
      <p:sp>
        <p:nvSpPr>
          <p:cNvPr id="225" name="Google Shape;225;p9"/>
          <p:cNvSpPr/>
          <p:nvPr/>
        </p:nvSpPr>
        <p:spPr>
          <a:xfrm>
            <a:off x="8681436" y="1028700"/>
            <a:ext cx="8926127" cy="8229600"/>
          </a:xfrm>
          <a:custGeom>
            <a:rect b="b" l="l" r="r" t="t"/>
            <a:pathLst>
              <a:path extrusionOk="0" h="8229600" w="8926127">
                <a:moveTo>
                  <a:pt x="0" y="0"/>
                </a:moveTo>
                <a:lnTo>
                  <a:pt x="8926128" y="0"/>
                </a:lnTo>
                <a:lnTo>
                  <a:pt x="892612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7820" t="0"/>
            </a:stretch>
          </a:blipFill>
          <a:ln>
            <a:noFill/>
          </a:ln>
        </p:spPr>
      </p:sp>
      <p:sp>
        <p:nvSpPr>
          <p:cNvPr id="226" name="Google Shape;226;p9"/>
          <p:cNvSpPr/>
          <p:nvPr/>
        </p:nvSpPr>
        <p:spPr>
          <a:xfrm>
            <a:off x="8667586" y="1028700"/>
            <a:ext cx="8939978" cy="8229600"/>
          </a:xfrm>
          <a:custGeom>
            <a:rect b="b" l="l" r="r" t="t"/>
            <a:pathLst>
              <a:path extrusionOk="0" h="8229600" w="8939978">
                <a:moveTo>
                  <a:pt x="0" y="0"/>
                </a:moveTo>
                <a:lnTo>
                  <a:pt x="8939978" y="0"/>
                </a:lnTo>
                <a:lnTo>
                  <a:pt x="893997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44585" l="0" r="-13199" t="0"/>
            </a:stretch>
          </a:blipFill>
          <a:ln>
            <a:noFill/>
          </a:ln>
        </p:spPr>
      </p:sp>
      <p:sp>
        <p:nvSpPr>
          <p:cNvPr id="227" name="Google Shape;227;p9"/>
          <p:cNvSpPr txBox="1"/>
          <p:nvPr/>
        </p:nvSpPr>
        <p:spPr>
          <a:xfrm>
            <a:off x="2417556" y="3600633"/>
            <a:ext cx="4741144" cy="5426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Scroll down to the “Faculty Advisor Approval” section.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Here, you will enter the program code for the corresponding program.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You will also Approve or Deny here.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A9AD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"/>
          <p:cNvSpPr/>
          <p:nvPr/>
        </p:nvSpPr>
        <p:spPr>
          <a:xfrm>
            <a:off x="13156322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10"/>
          <p:cNvSpPr/>
          <p:nvPr/>
        </p:nvSpPr>
        <p:spPr>
          <a:xfrm>
            <a:off x="1028700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10"/>
          <p:cNvSpPr txBox="1"/>
          <p:nvPr/>
        </p:nvSpPr>
        <p:spPr>
          <a:xfrm>
            <a:off x="3817999" y="4130675"/>
            <a:ext cx="11276283" cy="286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GRADUATION APPLICATION PROCESS: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VERIFY READINESS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 rot="10800000">
            <a:off x="10419457" y="6125117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6" y="0"/>
                </a:lnTo>
                <a:lnTo>
                  <a:pt x="5450086" y="4161883"/>
                </a:lnTo>
                <a:lnTo>
                  <a:pt x="0" y="4161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0" name="Google Shape;240;p11"/>
          <p:cNvSpPr/>
          <p:nvPr/>
        </p:nvSpPr>
        <p:spPr>
          <a:xfrm rot="10800000">
            <a:off x="11061889" y="-806818"/>
            <a:ext cx="4165223" cy="5950318"/>
          </a:xfrm>
          <a:custGeom>
            <a:rect b="b" l="l" r="r" t="t"/>
            <a:pathLst>
              <a:path extrusionOk="0" h="5950318" w="4165223">
                <a:moveTo>
                  <a:pt x="0" y="0"/>
                </a:moveTo>
                <a:lnTo>
                  <a:pt x="4165222" y="0"/>
                </a:lnTo>
                <a:lnTo>
                  <a:pt x="4165222" y="5950318"/>
                </a:lnTo>
                <a:lnTo>
                  <a:pt x="0" y="5950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1" name="Google Shape;241;p11"/>
          <p:cNvSpPr txBox="1"/>
          <p:nvPr/>
        </p:nvSpPr>
        <p:spPr>
          <a:xfrm>
            <a:off x="2417556" y="981075"/>
            <a:ext cx="6726444" cy="1990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USING THE GRADUATION APPLICATION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9441669" y="3638733"/>
            <a:ext cx="7568518" cy="4032736"/>
          </a:xfrm>
          <a:custGeom>
            <a:rect b="b" l="l" r="r" t="t"/>
            <a:pathLst>
              <a:path extrusionOk="0" h="4032736" w="7568518">
                <a:moveTo>
                  <a:pt x="0" y="0"/>
                </a:moveTo>
                <a:lnTo>
                  <a:pt x="7568518" y="0"/>
                </a:lnTo>
                <a:lnTo>
                  <a:pt x="7568518" y="4032736"/>
                </a:lnTo>
                <a:lnTo>
                  <a:pt x="0" y="403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9316" t="-4037"/>
            </a:stretch>
          </a:blipFill>
          <a:ln>
            <a:noFill/>
          </a:ln>
        </p:spPr>
      </p:sp>
      <p:sp>
        <p:nvSpPr>
          <p:cNvPr id="243" name="Google Shape;243;p11"/>
          <p:cNvSpPr txBox="1"/>
          <p:nvPr/>
        </p:nvSpPr>
        <p:spPr>
          <a:xfrm>
            <a:off x="2417556" y="3600633"/>
            <a:ext cx="4741200" cy="5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Along with </a:t>
            </a:r>
            <a:r>
              <a:rPr b="1" lang="en-US" sz="3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the</a:t>
            </a: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Approval or Denial, </a:t>
            </a:r>
            <a:r>
              <a:rPr b="1" lang="en-US" sz="35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Advisors</a:t>
            </a: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will upload an EVAL for the student and program.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Use Colleague to perform an EVAL and upload the resulting document here.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/>
          <p:nvPr/>
        </p:nvSpPr>
        <p:spPr>
          <a:xfrm rot="10800000">
            <a:off x="10419457" y="6125117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6" y="0"/>
                </a:lnTo>
                <a:lnTo>
                  <a:pt x="5450086" y="4161883"/>
                </a:lnTo>
                <a:lnTo>
                  <a:pt x="0" y="41618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9" name="Google Shape;249;p12"/>
          <p:cNvSpPr/>
          <p:nvPr/>
        </p:nvSpPr>
        <p:spPr>
          <a:xfrm rot="10800000">
            <a:off x="11061889" y="-806818"/>
            <a:ext cx="4165223" cy="5950318"/>
          </a:xfrm>
          <a:custGeom>
            <a:rect b="b" l="l" r="r" t="t"/>
            <a:pathLst>
              <a:path extrusionOk="0" h="5950318" w="4165223">
                <a:moveTo>
                  <a:pt x="0" y="0"/>
                </a:moveTo>
                <a:lnTo>
                  <a:pt x="4165222" y="0"/>
                </a:lnTo>
                <a:lnTo>
                  <a:pt x="4165222" y="5950318"/>
                </a:lnTo>
                <a:lnTo>
                  <a:pt x="0" y="5950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0" name="Google Shape;250;p12"/>
          <p:cNvSpPr txBox="1"/>
          <p:nvPr/>
        </p:nvSpPr>
        <p:spPr>
          <a:xfrm>
            <a:off x="2417556" y="981075"/>
            <a:ext cx="6726444" cy="19907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USING THE GRADUATION APPLICATION</a:t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2417556" y="5336129"/>
            <a:ext cx="4741144" cy="153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Repeat this process for each of a student’s applications.</a:t>
            </a:r>
            <a:endParaRPr/>
          </a:p>
        </p:txBody>
      </p:sp>
      <p:sp>
        <p:nvSpPr>
          <p:cNvPr id="252" name="Google Shape;252;p12"/>
          <p:cNvSpPr/>
          <p:nvPr/>
        </p:nvSpPr>
        <p:spPr>
          <a:xfrm>
            <a:off x="9441669" y="3638733"/>
            <a:ext cx="7568518" cy="4032736"/>
          </a:xfrm>
          <a:custGeom>
            <a:rect b="b" l="l" r="r" t="t"/>
            <a:pathLst>
              <a:path extrusionOk="0" h="4032736" w="7568518">
                <a:moveTo>
                  <a:pt x="0" y="0"/>
                </a:moveTo>
                <a:lnTo>
                  <a:pt x="7568518" y="0"/>
                </a:lnTo>
                <a:lnTo>
                  <a:pt x="7568518" y="4032736"/>
                </a:lnTo>
                <a:lnTo>
                  <a:pt x="0" y="403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9318" t="-4039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3"/>
          <p:cNvSpPr/>
          <p:nvPr/>
        </p:nvSpPr>
        <p:spPr>
          <a:xfrm rot="5400000">
            <a:off x="13482016" y="-2080942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5" y="0"/>
                </a:lnTo>
                <a:lnTo>
                  <a:pt x="5450085" y="4161884"/>
                </a:lnTo>
                <a:lnTo>
                  <a:pt x="0" y="4161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9" name="Google Shape;259;p13"/>
          <p:cNvSpPr/>
          <p:nvPr/>
        </p:nvSpPr>
        <p:spPr>
          <a:xfrm>
            <a:off x="9450071" y="1028700"/>
            <a:ext cx="7809229" cy="8229600"/>
          </a:xfrm>
          <a:custGeom>
            <a:rect b="b" l="l" r="r" t="t"/>
            <a:pathLst>
              <a:path extrusionOk="0" h="8229600" w="7809229">
                <a:moveTo>
                  <a:pt x="0" y="0"/>
                </a:moveTo>
                <a:lnTo>
                  <a:pt x="7809229" y="0"/>
                </a:lnTo>
                <a:lnTo>
                  <a:pt x="780922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7736" r="-26065" t="0"/>
            </a:stretch>
          </a:blipFill>
          <a:ln>
            <a:noFill/>
          </a:ln>
        </p:spPr>
      </p:sp>
      <p:sp>
        <p:nvSpPr>
          <p:cNvPr id="260" name="Google Shape;260;p13"/>
          <p:cNvSpPr txBox="1"/>
          <p:nvPr/>
        </p:nvSpPr>
        <p:spPr>
          <a:xfrm>
            <a:off x="2417556" y="981075"/>
            <a:ext cx="6726444" cy="733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STACKED CREDENTIALS</a:t>
            </a:r>
            <a:endParaRPr/>
          </a:p>
        </p:txBody>
      </p:sp>
      <p:sp>
        <p:nvSpPr>
          <p:cNvPr id="261" name="Google Shape;261;p13"/>
          <p:cNvSpPr txBox="1"/>
          <p:nvPr/>
        </p:nvSpPr>
        <p:spPr>
          <a:xfrm>
            <a:off x="2417556" y="2445385"/>
            <a:ext cx="5953500" cy="6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Administration has also approved a return to awarding all credentials a student has earned.</a:t>
            </a:r>
            <a:endParaRPr b="1" i="0" sz="30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Previously, only the highest credential was awarded (ex., Associate instead of Diploma/Certificate in the same discipline).</a:t>
            </a:r>
            <a:endParaRPr/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Based on student feedback, we will now award every credential earned.</a:t>
            </a:r>
            <a:endParaRPr/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Students must submit a separate graduation application for each credential.</a:t>
            </a:r>
            <a:endParaRPr/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If students participate in the ceremony, they will walk with their highest credential.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4"/>
          <p:cNvSpPr/>
          <p:nvPr/>
        </p:nvSpPr>
        <p:spPr>
          <a:xfrm rot="5400000">
            <a:off x="13482016" y="-2080942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5" y="0"/>
                </a:lnTo>
                <a:lnTo>
                  <a:pt x="5450085" y="4161884"/>
                </a:lnTo>
                <a:lnTo>
                  <a:pt x="0" y="4161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14"/>
          <p:cNvSpPr/>
          <p:nvPr/>
        </p:nvSpPr>
        <p:spPr>
          <a:xfrm>
            <a:off x="9450071" y="1028700"/>
            <a:ext cx="7809229" cy="8229600"/>
          </a:xfrm>
          <a:custGeom>
            <a:rect b="b" l="l" r="r" t="t"/>
            <a:pathLst>
              <a:path extrusionOk="0" h="8229600" w="7809229">
                <a:moveTo>
                  <a:pt x="0" y="0"/>
                </a:moveTo>
                <a:lnTo>
                  <a:pt x="7809229" y="0"/>
                </a:lnTo>
                <a:lnTo>
                  <a:pt x="780922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37736" r="-26065" t="0"/>
            </a:stretch>
          </a:blipFill>
          <a:ln>
            <a:noFill/>
          </a:ln>
        </p:spPr>
      </p:sp>
      <p:sp>
        <p:nvSpPr>
          <p:cNvPr id="269" name="Google Shape;269;p14"/>
          <p:cNvSpPr txBox="1"/>
          <p:nvPr/>
        </p:nvSpPr>
        <p:spPr>
          <a:xfrm>
            <a:off x="2417556" y="981075"/>
            <a:ext cx="6726444" cy="136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MULTI-PROGRAM GRADUATES</a:t>
            </a:r>
            <a:endParaRPr/>
          </a:p>
        </p:txBody>
      </p:sp>
      <p:sp>
        <p:nvSpPr>
          <p:cNvPr id="270" name="Google Shape;270;p14"/>
          <p:cNvSpPr txBox="1"/>
          <p:nvPr/>
        </p:nvSpPr>
        <p:spPr>
          <a:xfrm>
            <a:off x="2417550" y="2445372"/>
            <a:ext cx="5953500" cy="44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Some students will graduate from multiple programs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Students must submit an application for each program (and credential level) from which they wish to graduate.</a:t>
            </a:r>
            <a:endParaRPr/>
          </a:p>
          <a:p>
            <a:pPr indent="0" lvl="0" marL="0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99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This is important for SRR and Faculty to track all graduates and credentials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CA9AD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/>
          <p:nvPr/>
        </p:nvSpPr>
        <p:spPr>
          <a:xfrm>
            <a:off x="13156322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5"/>
          <p:cNvSpPr/>
          <p:nvPr/>
        </p:nvSpPr>
        <p:spPr>
          <a:xfrm>
            <a:off x="1028700" y="0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5"/>
          <p:cNvSpPr txBox="1"/>
          <p:nvPr/>
        </p:nvSpPr>
        <p:spPr>
          <a:xfrm>
            <a:off x="3817999" y="4130675"/>
            <a:ext cx="11126999" cy="376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GRADUATION APPLICATION PROCESS: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ENCOURAGE &amp; GUIDE STUDENTS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16"/>
          <p:cNvSpPr/>
          <p:nvPr/>
        </p:nvSpPr>
        <p:spPr>
          <a:xfrm>
            <a:off x="9029700" y="1028700"/>
            <a:ext cx="8229600" cy="8229600"/>
          </a:xfrm>
          <a:custGeom>
            <a:rect b="b" l="l" r="r" t="t"/>
            <a:pathLst>
              <a:path extrusionOk="0" h="8229600" w="8229600">
                <a:moveTo>
                  <a:pt x="0" y="0"/>
                </a:moveTo>
                <a:lnTo>
                  <a:pt x="8229600" y="0"/>
                </a:lnTo>
                <a:lnTo>
                  <a:pt x="82296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4" name="Google Shape;284;p16"/>
          <p:cNvSpPr txBox="1"/>
          <p:nvPr/>
        </p:nvSpPr>
        <p:spPr>
          <a:xfrm>
            <a:off x="2417556" y="736974"/>
            <a:ext cx="6726444" cy="136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YOUR ROLE AS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AN ADVISOR</a:t>
            </a:r>
            <a:endParaRPr/>
          </a:p>
        </p:txBody>
      </p:sp>
      <p:sp>
        <p:nvSpPr>
          <p:cNvPr id="285" name="Google Shape;285;p16"/>
          <p:cNvSpPr txBox="1"/>
          <p:nvPr/>
        </p:nvSpPr>
        <p:spPr>
          <a:xfrm>
            <a:off x="2417556" y="2758648"/>
            <a:ext cx="5953371" cy="15487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1. As Faculty Advisors, you’re in the best position to identify students fulfilling their requirements in a program.</a:t>
            </a:r>
            <a:endParaRPr/>
          </a:p>
        </p:txBody>
      </p:sp>
      <p:sp>
        <p:nvSpPr>
          <p:cNvPr id="286" name="Google Shape;286;p16"/>
          <p:cNvSpPr txBox="1"/>
          <p:nvPr/>
        </p:nvSpPr>
        <p:spPr>
          <a:xfrm>
            <a:off x="2417556" y="5000198"/>
            <a:ext cx="5953500" cy="1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2. You’ve been advising them since they enter</a:t>
            </a:r>
            <a:r>
              <a:rPr b="1" lang="en-US" sz="27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ed</a:t>
            </a: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the program and you are</a:t>
            </a:r>
            <a:r>
              <a:rPr b="1" lang="en-US" sz="27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</a:t>
            </a: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trusted educational and professional guide</a:t>
            </a:r>
            <a:r>
              <a:rPr b="1" lang="en-US" sz="2700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s.</a:t>
            </a:r>
            <a:endParaRPr/>
          </a:p>
        </p:txBody>
      </p:sp>
      <p:sp>
        <p:nvSpPr>
          <p:cNvPr id="287" name="Google Shape;287;p16"/>
          <p:cNvSpPr txBox="1"/>
          <p:nvPr/>
        </p:nvSpPr>
        <p:spPr>
          <a:xfrm>
            <a:off x="2417556" y="7241748"/>
            <a:ext cx="5953371" cy="805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3. You’re able to anticipate issues and resolve them early.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8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8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>
            <a:off x="5893678" y="81355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>
            <a:off x="1028700" y="8135576"/>
            <a:ext cx="4102978" cy="3133183"/>
          </a:xfrm>
          <a:custGeom>
            <a:rect b="b" l="l" r="r" t="t"/>
            <a:pathLst>
              <a:path extrusionOk="0" h="3133183" w="4102978">
                <a:moveTo>
                  <a:pt x="0" y="0"/>
                </a:moveTo>
                <a:lnTo>
                  <a:pt x="4102978" y="0"/>
                </a:lnTo>
                <a:lnTo>
                  <a:pt x="4102978" y="3133183"/>
                </a:lnTo>
                <a:lnTo>
                  <a:pt x="0" y="31331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 txBox="1"/>
          <p:nvPr/>
        </p:nvSpPr>
        <p:spPr>
          <a:xfrm>
            <a:off x="5901312" y="3743322"/>
            <a:ext cx="7571992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CHALLENGES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6860537" y="5972172"/>
            <a:ext cx="6612767" cy="495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Stuff You Should Know</a:t>
            </a:r>
            <a:endParaRPr/>
          </a:p>
        </p:txBody>
      </p:sp>
      <p:grpSp>
        <p:nvGrpSpPr>
          <p:cNvPr id="299" name="Google Shape;299;p18"/>
          <p:cNvGrpSpPr/>
          <p:nvPr/>
        </p:nvGrpSpPr>
        <p:grpSpPr>
          <a:xfrm>
            <a:off x="13560386" y="-300773"/>
            <a:ext cx="7514567" cy="8428298"/>
            <a:chOff x="23020" y="10735"/>
            <a:chExt cx="10019422" cy="11237731"/>
          </a:xfrm>
        </p:grpSpPr>
        <p:cxnSp>
          <p:nvCxnSpPr>
            <p:cNvPr id="300" name="Google Shape;300;p18"/>
            <p:cNvCxnSpPr/>
            <p:nvPr/>
          </p:nvCxnSpPr>
          <p:spPr>
            <a:xfrm flipH="1" rot="10800000">
              <a:off x="23020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18"/>
            <p:cNvCxnSpPr/>
            <p:nvPr/>
          </p:nvCxnSpPr>
          <p:spPr>
            <a:xfrm flipH="1" rot="10800000">
              <a:off x="554040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18"/>
            <p:cNvCxnSpPr/>
            <p:nvPr/>
          </p:nvCxnSpPr>
          <p:spPr>
            <a:xfrm flipH="1" rot="10800000">
              <a:off x="1085061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18"/>
            <p:cNvCxnSpPr/>
            <p:nvPr/>
          </p:nvCxnSpPr>
          <p:spPr>
            <a:xfrm flipH="1" rot="10800000">
              <a:off x="1616081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4" name="Google Shape;304;p18"/>
            <p:cNvCxnSpPr/>
            <p:nvPr/>
          </p:nvCxnSpPr>
          <p:spPr>
            <a:xfrm flipH="1" rot="10800000">
              <a:off x="2147101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5" name="Google Shape;305;p18"/>
            <p:cNvCxnSpPr/>
            <p:nvPr/>
          </p:nvCxnSpPr>
          <p:spPr>
            <a:xfrm flipH="1" rot="10800000">
              <a:off x="2678121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6" name="Google Shape;306;p18"/>
            <p:cNvCxnSpPr/>
            <p:nvPr/>
          </p:nvCxnSpPr>
          <p:spPr>
            <a:xfrm flipH="1" rot="10800000">
              <a:off x="3209142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7" name="Google Shape;307;p18"/>
            <p:cNvCxnSpPr/>
            <p:nvPr/>
          </p:nvCxnSpPr>
          <p:spPr>
            <a:xfrm flipH="1" rot="10800000">
              <a:off x="3740162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8" name="Google Shape;308;p18"/>
            <p:cNvCxnSpPr/>
            <p:nvPr/>
          </p:nvCxnSpPr>
          <p:spPr>
            <a:xfrm flipH="1" rot="10800000">
              <a:off x="4271182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" name="Google Shape;309;p18"/>
            <p:cNvCxnSpPr/>
            <p:nvPr/>
          </p:nvCxnSpPr>
          <p:spPr>
            <a:xfrm flipH="1" rot="10800000">
              <a:off x="4802202" y="10735"/>
              <a:ext cx="5240240" cy="11237731"/>
            </a:xfrm>
            <a:prstGeom prst="straightConnector1">
              <a:avLst/>
            </a:prstGeom>
            <a:noFill/>
            <a:ln cap="flat" cmpd="sng" w="508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/>
          <p:nvPr/>
        </p:nvSpPr>
        <p:spPr>
          <a:xfrm rot="5400000">
            <a:off x="13482016" y="-2080942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5" y="0"/>
                </a:lnTo>
                <a:lnTo>
                  <a:pt x="5450085" y="4161884"/>
                </a:lnTo>
                <a:lnTo>
                  <a:pt x="0" y="4161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19"/>
          <p:cNvSpPr/>
          <p:nvPr/>
        </p:nvSpPr>
        <p:spPr>
          <a:xfrm>
            <a:off x="9144000" y="2683782"/>
            <a:ext cx="7825734" cy="4919436"/>
          </a:xfrm>
          <a:custGeom>
            <a:rect b="b" l="l" r="r" t="t"/>
            <a:pathLst>
              <a:path extrusionOk="0" h="4919436" w="7825734">
                <a:moveTo>
                  <a:pt x="0" y="0"/>
                </a:moveTo>
                <a:lnTo>
                  <a:pt x="7825734" y="0"/>
                </a:lnTo>
                <a:lnTo>
                  <a:pt x="7825734" y="4919436"/>
                </a:lnTo>
                <a:lnTo>
                  <a:pt x="0" y="4919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47514" t="0"/>
            </a:stretch>
          </a:blipFill>
          <a:ln>
            <a:noFill/>
          </a:ln>
        </p:spPr>
      </p:sp>
      <p:sp>
        <p:nvSpPr>
          <p:cNvPr id="316" name="Google Shape;316;p19"/>
          <p:cNvSpPr txBox="1"/>
          <p:nvPr/>
        </p:nvSpPr>
        <p:spPr>
          <a:xfrm>
            <a:off x="2417556" y="981075"/>
            <a:ext cx="6726444" cy="136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STUDENT SELECTION OF PROGRAM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2417556" y="2445385"/>
            <a:ext cx="5953500" cy="74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Only programs showing in the drop-down box are programs on the student’s record.</a:t>
            </a:r>
            <a:endParaRPr b="1" i="0" sz="30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Once a student selects from </a:t>
            </a:r>
            <a:r>
              <a:rPr b="0" i="0" lang="en-US" sz="2499" u="none" cap="none" strike="noStrike">
                <a:solidFill>
                  <a:srgbClr val="737373"/>
                </a:solidFill>
                <a:highlight>
                  <a:srgbClr val="00FF00"/>
                </a:highlight>
                <a:latin typeface="Avenir"/>
                <a:ea typeface="Avenir"/>
                <a:cs typeface="Avenir"/>
                <a:sym typeface="Avenir"/>
              </a:rPr>
              <a:t>the dropdown menu</a:t>
            </a: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, the </a:t>
            </a:r>
            <a:r>
              <a:rPr b="0" i="0" lang="en-US" sz="2499" u="none" cap="none" strike="noStrike">
                <a:solidFill>
                  <a:srgbClr val="737373"/>
                </a:solidFill>
                <a:highlight>
                  <a:srgbClr val="F6B26B"/>
                </a:highlight>
                <a:latin typeface="Avenir"/>
                <a:ea typeface="Avenir"/>
                <a:cs typeface="Avenir"/>
                <a:sym typeface="Avenir"/>
              </a:rPr>
              <a:t>fields will populate</a:t>
            </a: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. </a:t>
            </a:r>
            <a:r>
              <a:rPr b="1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Please note:</a:t>
            </a: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 Once populated, the fields can not be </a:t>
            </a:r>
            <a:r>
              <a:rPr lang="en-US" sz="2499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deleted or edited</a:t>
            </a: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.</a:t>
            </a:r>
            <a:endParaRPr/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Stackable Credentials mean that they will not see the lower credentials to choose from after their first application for the highest.</a:t>
            </a:r>
            <a:endParaRPr/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The student will need to submit the first, then start a new one. This time, they will need to enter the lower credentialed program in the </a:t>
            </a:r>
            <a:r>
              <a:rPr b="0" i="0" lang="en-US" sz="2499" u="none" cap="none" strike="noStrike">
                <a:solidFill>
                  <a:srgbClr val="737373"/>
                </a:solidFill>
                <a:highlight>
                  <a:srgbClr val="FFFF00"/>
                </a:highlight>
                <a:latin typeface="Avenir"/>
                <a:ea typeface="Avenir"/>
                <a:cs typeface="Avenir"/>
                <a:sym typeface="Avenir"/>
              </a:rPr>
              <a:t>empty field where indicated.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9676800" y="7113600"/>
            <a:ext cx="6206400" cy="345600"/>
          </a:xfrm>
          <a:prstGeom prst="flowChartProcess">
            <a:avLst/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9676800" y="4970700"/>
            <a:ext cx="3513600" cy="3456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9626800" y="5530300"/>
            <a:ext cx="6335100" cy="1097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/>
          <p:nvPr/>
        </p:nvSpPr>
        <p:spPr>
          <a:xfrm>
            <a:off x="2417556" y="9164276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9" y="0"/>
                </a:lnTo>
                <a:lnTo>
                  <a:pt x="4102979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6" name="Google Shape;326;p20"/>
          <p:cNvSpPr/>
          <p:nvPr/>
        </p:nvSpPr>
        <p:spPr>
          <a:xfrm rot="5400000">
            <a:off x="13482016" y="-2080942"/>
            <a:ext cx="5450085" cy="4161883"/>
          </a:xfrm>
          <a:custGeom>
            <a:rect b="b" l="l" r="r" t="t"/>
            <a:pathLst>
              <a:path extrusionOk="0" h="4161883" w="5450085">
                <a:moveTo>
                  <a:pt x="0" y="0"/>
                </a:moveTo>
                <a:lnTo>
                  <a:pt x="5450085" y="0"/>
                </a:lnTo>
                <a:lnTo>
                  <a:pt x="5450085" y="4161884"/>
                </a:lnTo>
                <a:lnTo>
                  <a:pt x="0" y="41618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7" name="Google Shape;327;p20"/>
          <p:cNvSpPr/>
          <p:nvPr/>
        </p:nvSpPr>
        <p:spPr>
          <a:xfrm>
            <a:off x="9144000" y="2683782"/>
            <a:ext cx="7825734" cy="4919436"/>
          </a:xfrm>
          <a:custGeom>
            <a:rect b="b" l="l" r="r" t="t"/>
            <a:pathLst>
              <a:path extrusionOk="0" h="4919436" w="7825734">
                <a:moveTo>
                  <a:pt x="0" y="0"/>
                </a:moveTo>
                <a:lnTo>
                  <a:pt x="7825734" y="0"/>
                </a:lnTo>
                <a:lnTo>
                  <a:pt x="7825734" y="4919436"/>
                </a:lnTo>
                <a:lnTo>
                  <a:pt x="0" y="49194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47514" t="0"/>
            </a:stretch>
          </a:blipFill>
          <a:ln>
            <a:noFill/>
          </a:ln>
        </p:spPr>
      </p:sp>
      <p:sp>
        <p:nvSpPr>
          <p:cNvPr id="328" name="Google Shape;328;p20"/>
          <p:cNvSpPr txBox="1"/>
          <p:nvPr/>
        </p:nvSpPr>
        <p:spPr>
          <a:xfrm>
            <a:off x="2417556" y="981075"/>
            <a:ext cx="6726444" cy="1362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8CA9AD"/>
                </a:solidFill>
                <a:latin typeface="Avenir"/>
                <a:ea typeface="Avenir"/>
                <a:cs typeface="Avenir"/>
                <a:sym typeface="Avenir"/>
              </a:rPr>
              <a:t>STUDENT SELECTION OF PROGRAM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2417556" y="2445385"/>
            <a:ext cx="5953371" cy="4835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Only programs showing in the drop-down box are programs on the student’s record.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737373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Similar to the Stackable Credentials, if a student wishes to graduate from multiple programs, a separate application is needed for each.</a:t>
            </a:r>
            <a:endParaRPr/>
          </a:p>
          <a:p>
            <a:pPr indent="-269874" lvl="1" marL="539749" marR="0" rtl="0" algn="l">
              <a:lnSpc>
                <a:spcPct val="110004"/>
              </a:lnSpc>
              <a:spcBef>
                <a:spcPts val="0"/>
              </a:spcBef>
              <a:spcAft>
                <a:spcPts val="0"/>
              </a:spcAft>
              <a:buClr>
                <a:srgbClr val="737373"/>
              </a:buClr>
              <a:buSzPts val="2499"/>
              <a:buFont typeface="Arial"/>
              <a:buChar char="•"/>
            </a:pPr>
            <a:r>
              <a:rPr b="0" i="0" lang="en-US" sz="2499" u="none" cap="none" strike="noStrike">
                <a:solidFill>
                  <a:srgbClr val="737373"/>
                </a:solidFill>
                <a:latin typeface="Avenir"/>
                <a:ea typeface="Avenir"/>
                <a:cs typeface="Avenir"/>
                <a:sym typeface="Avenir"/>
              </a:rPr>
              <a:t>For example, a student graduating from A10500 and A10400 needs 2 apps, one for Associate in Engineering and one for Associate in Science.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4" name="Google Shape;334;p21"/>
          <p:cNvGrpSpPr/>
          <p:nvPr/>
        </p:nvGrpSpPr>
        <p:grpSpPr>
          <a:xfrm>
            <a:off x="1028700" y="884039"/>
            <a:ext cx="16230600" cy="8374261"/>
            <a:chOff x="0" y="-38100"/>
            <a:chExt cx="4274726" cy="2205567"/>
          </a:xfrm>
        </p:grpSpPr>
        <p:sp>
          <p:nvSpPr>
            <p:cNvPr id="335" name="Google Shape;335;p21"/>
            <p:cNvSpPr/>
            <p:nvPr/>
          </p:nvSpPr>
          <p:spPr>
            <a:xfrm>
              <a:off x="0" y="0"/>
              <a:ext cx="4274726" cy="2167467"/>
            </a:xfrm>
            <a:custGeom>
              <a:rect b="b" l="l" r="r" t="t"/>
              <a:pathLst>
                <a:path extrusionOk="0" h="2167467" w="4274726">
                  <a:moveTo>
                    <a:pt x="22896" y="0"/>
                  </a:moveTo>
                  <a:lnTo>
                    <a:pt x="4251830" y="0"/>
                  </a:lnTo>
                  <a:cubicBezTo>
                    <a:pt x="4264475" y="0"/>
                    <a:pt x="4274726" y="10251"/>
                    <a:pt x="4274726" y="22896"/>
                  </a:cubicBezTo>
                  <a:lnTo>
                    <a:pt x="4274726" y="2144571"/>
                  </a:lnTo>
                  <a:cubicBezTo>
                    <a:pt x="4274726" y="2150643"/>
                    <a:pt x="4272314" y="2156467"/>
                    <a:pt x="4268020" y="2160761"/>
                  </a:cubicBezTo>
                  <a:cubicBezTo>
                    <a:pt x="4263726" y="2165054"/>
                    <a:pt x="4257903" y="2167467"/>
                    <a:pt x="4251830" y="2167467"/>
                  </a:cubicBezTo>
                  <a:lnTo>
                    <a:pt x="22896" y="2167467"/>
                  </a:lnTo>
                  <a:cubicBezTo>
                    <a:pt x="16823" y="2167467"/>
                    <a:pt x="11000" y="2165054"/>
                    <a:pt x="6706" y="2160761"/>
                  </a:cubicBezTo>
                  <a:cubicBezTo>
                    <a:pt x="2412" y="2156467"/>
                    <a:pt x="0" y="2150643"/>
                    <a:pt x="0" y="2144571"/>
                  </a:cubicBezTo>
                  <a:lnTo>
                    <a:pt x="0" y="22896"/>
                  </a:lnTo>
                  <a:cubicBezTo>
                    <a:pt x="0" y="16823"/>
                    <a:pt x="2412" y="11000"/>
                    <a:pt x="6706" y="6706"/>
                  </a:cubicBezTo>
                  <a:cubicBezTo>
                    <a:pt x="11000" y="2412"/>
                    <a:pt x="16823" y="0"/>
                    <a:pt x="22896" y="0"/>
                  </a:cubicBezTo>
                  <a:close/>
                </a:path>
              </a:pathLst>
            </a:custGeom>
            <a:solidFill>
              <a:srgbClr val="8CA9A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1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7" name="Google Shape;337;p21"/>
          <p:cNvSpPr/>
          <p:nvPr/>
        </p:nvSpPr>
        <p:spPr>
          <a:xfrm>
            <a:off x="1981200" y="-94024"/>
            <a:ext cx="4102978" cy="2245448"/>
          </a:xfrm>
          <a:custGeom>
            <a:rect b="b" l="l" r="r" t="t"/>
            <a:pathLst>
              <a:path extrusionOk="0" h="2245448" w="4102978">
                <a:moveTo>
                  <a:pt x="0" y="0"/>
                </a:moveTo>
                <a:lnTo>
                  <a:pt x="4102978" y="0"/>
                </a:lnTo>
                <a:lnTo>
                  <a:pt x="4102978" y="2245448"/>
                </a:lnTo>
                <a:lnTo>
                  <a:pt x="0" y="2245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8" name="Google Shape;338;p21"/>
          <p:cNvSpPr/>
          <p:nvPr/>
        </p:nvSpPr>
        <p:spPr>
          <a:xfrm>
            <a:off x="1981200" y="6267450"/>
            <a:ext cx="2880360" cy="4114800"/>
          </a:xfrm>
          <a:custGeom>
            <a:rect b="b" l="l" r="r" t="t"/>
            <a:pathLst>
              <a:path extrusionOk="0" h="4114800" w="2880360">
                <a:moveTo>
                  <a:pt x="0" y="0"/>
                </a:moveTo>
                <a:lnTo>
                  <a:pt x="2880360" y="0"/>
                </a:lnTo>
                <a:lnTo>
                  <a:pt x="288036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21"/>
          <p:cNvSpPr txBox="1"/>
          <p:nvPr/>
        </p:nvSpPr>
        <p:spPr>
          <a:xfrm>
            <a:off x="4245946" y="2882894"/>
            <a:ext cx="10620170" cy="1908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THANK YOU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7550916" y="4752969"/>
            <a:ext cx="7315200" cy="568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Questions?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9144000" y="5854700"/>
            <a:ext cx="5722116" cy="15398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Matt Dilworth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919-718-7063</a:t>
            </a:r>
            <a:endParaRPr/>
          </a:p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mdilw269@cccc.edu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 rot="10800000">
            <a:off x="5623560" y="7673106"/>
            <a:ext cx="3422956" cy="2613894"/>
          </a:xfrm>
          <a:custGeom>
            <a:rect b="b" l="l" r="r" t="t"/>
            <a:pathLst>
              <a:path extrusionOk="0" h="2613894" w="3422956">
                <a:moveTo>
                  <a:pt x="0" y="0"/>
                </a:moveTo>
                <a:lnTo>
                  <a:pt x="3422956" y="0"/>
                </a:lnTo>
                <a:lnTo>
                  <a:pt x="3422956" y="2613894"/>
                </a:lnTo>
                <a:lnTo>
                  <a:pt x="0" y="2613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